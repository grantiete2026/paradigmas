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6256000" cy="9144000"/>
  <p:notesSz cx="9144000" cy="16256000"/>
  <p:embeddedFontLst>
    <p:embeddedFont>
      <p:font typeface="Liter" charset="-122" pitchFamily="34"/>
      <p:regular r:id="rId32"/>
    </p:embeddedFont>
    <p:embeddedFont>
      <p:font typeface="Quattrocento Sans" charset="-122" pitchFamily="34"/>
      <p:regular r:id="rId3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Modelagem Orientada a Objetos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88000" y="3746500"/>
            <a:ext cx="5080000" cy="254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4064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Estudo de Caso — Biblioteca da Faculdade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23200" y="508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68235"/>
                </a:moveTo>
                <a:lnTo>
                  <a:pt x="304800" y="536496"/>
                </a:lnTo>
                <a:lnTo>
                  <a:pt x="305395" y="536258"/>
                </a:lnTo>
                <a:cubicBezTo>
                  <a:pt x="370403" y="509230"/>
                  <a:pt x="440174" y="495300"/>
                  <a:pt x="510540" y="495300"/>
                </a:cubicBezTo>
                <a:lnTo>
                  <a:pt x="533400" y="495300"/>
                </a:lnTo>
                <a:lnTo>
                  <a:pt x="533400" y="114300"/>
                </a:lnTo>
                <a:lnTo>
                  <a:pt x="510540" y="114300"/>
                </a:lnTo>
                <a:cubicBezTo>
                  <a:pt x="460296" y="114300"/>
                  <a:pt x="410408" y="124301"/>
                  <a:pt x="363974" y="143589"/>
                </a:cubicBezTo>
                <a:cubicBezTo>
                  <a:pt x="343972" y="151924"/>
                  <a:pt x="324207" y="160139"/>
                  <a:pt x="304800" y="168235"/>
                </a:cubicBezTo>
                <a:close/>
                <a:moveTo>
                  <a:pt x="274915" y="73223"/>
                </a:moveTo>
                <a:lnTo>
                  <a:pt x="304800" y="85725"/>
                </a:lnTo>
                <a:lnTo>
                  <a:pt x="334685" y="73223"/>
                </a:lnTo>
                <a:cubicBezTo>
                  <a:pt x="390406" y="50006"/>
                  <a:pt x="450175" y="38100"/>
                  <a:pt x="51054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514350"/>
                </a:lnTo>
                <a:cubicBezTo>
                  <a:pt x="609600" y="545902"/>
                  <a:pt x="584002" y="571500"/>
                  <a:pt x="552450" y="571500"/>
                </a:cubicBezTo>
                <a:lnTo>
                  <a:pt x="510540" y="571500"/>
                </a:lnTo>
                <a:cubicBezTo>
                  <a:pt x="450175" y="571500"/>
                  <a:pt x="390406" y="583406"/>
                  <a:pt x="334685" y="606623"/>
                </a:cubicBezTo>
                <a:lnTo>
                  <a:pt x="319445" y="612934"/>
                </a:lnTo>
                <a:cubicBezTo>
                  <a:pt x="310039" y="616863"/>
                  <a:pt x="299561" y="616863"/>
                  <a:pt x="290155" y="612934"/>
                </a:cubicBezTo>
                <a:lnTo>
                  <a:pt x="274915" y="606623"/>
                </a:lnTo>
                <a:cubicBezTo>
                  <a:pt x="219194" y="583406"/>
                  <a:pt x="159425" y="571500"/>
                  <a:pt x="99060" y="571500"/>
                </a:cubicBezTo>
                <a:lnTo>
                  <a:pt x="57150" y="571500"/>
                </a:lnTo>
                <a:cubicBezTo>
                  <a:pt x="25598" y="571500"/>
                  <a:pt x="0" y="545902"/>
                  <a:pt x="0" y="514350"/>
                </a:cubicBezTo>
                <a:lnTo>
                  <a:pt x="0" y="95250"/>
                </a:lnTo>
                <a:cubicBezTo>
                  <a:pt x="0" y="63698"/>
                  <a:pt x="25598" y="38100"/>
                  <a:pt x="57150" y="38100"/>
                </a:cubicBezTo>
                <a:lnTo>
                  <a:pt x="99060" y="38100"/>
                </a:lnTo>
                <a:cubicBezTo>
                  <a:pt x="159425" y="38100"/>
                  <a:pt x="219194" y="50006"/>
                  <a:pt x="274915" y="73223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17F4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Conteúdo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482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7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414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e Objetivos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3429000"/>
            <a:ext cx="414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Entendendo o domínio da biblioteca e as metas da modelagem orientada a objetos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91200" y="1524000"/>
            <a:ext cx="46482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0" name="Text 8"/>
          <p:cNvSpPr/>
          <p:nvPr/>
        </p:nvSpPr>
        <p:spPr>
          <a:xfrm>
            <a:off x="6045200" y="1778000"/>
            <a:ext cx="1206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045200" y="2540000"/>
            <a:ext cx="414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Entidades e Atributos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45200" y="3429000"/>
            <a:ext cx="414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Identificando as classes principais e seus dados do domínio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833100" y="1524000"/>
            <a:ext cx="46609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4" name="Text 12"/>
          <p:cNvSpPr/>
          <p:nvPr/>
        </p:nvSpPr>
        <p:spPr>
          <a:xfrm>
            <a:off x="11087100" y="1778000"/>
            <a:ext cx="1206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11087100" y="2540000"/>
            <a:ext cx="4152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Cartões CRC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87100" y="3429000"/>
            <a:ext cx="41529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Definindo responsabilidades e colaborações de cada classe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46482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334000"/>
            <a:ext cx="1206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1016000" y="6096000"/>
            <a:ext cx="414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 por Mensagens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16000" y="6985000"/>
            <a:ext cx="414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Descrevendo o funcionamento como mensagens entre objetos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91200" y="5080000"/>
            <a:ext cx="46482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2" name="Text 20"/>
          <p:cNvSpPr/>
          <p:nvPr/>
        </p:nvSpPr>
        <p:spPr>
          <a:xfrm>
            <a:off x="6045200" y="5334000"/>
            <a:ext cx="1206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6045200" y="6096000"/>
            <a:ext cx="414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Mudanças de Requisito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45200" y="6985000"/>
            <a:ext cx="4140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Adaptando o design a novas regras de negócio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833100" y="5080000"/>
            <a:ext cx="46609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6" name="Text 24"/>
          <p:cNvSpPr/>
          <p:nvPr/>
        </p:nvSpPr>
        <p:spPr>
          <a:xfrm>
            <a:off x="11087100" y="5334000"/>
            <a:ext cx="1206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11087100" y="6096000"/>
            <a:ext cx="4152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Conclusão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087100" y="6985000"/>
            <a:ext cx="4152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Entregáveis e checklist de qualidade do modelo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921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1524000" cy="381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8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e Objetivos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514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Entendendo o domínio e as metas da modelagem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Sistema da Biblioteca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biblioteca atende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alunos, professores e funcionários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emprestando livros, periódicos e notebooks. O sistema gerencia usuários, materiais, empréstimos, devoluções, reservas e multas.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965200" y="2730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7950" y="101600"/>
                </a:moveTo>
                <a:cubicBezTo>
                  <a:pt x="107950" y="49030"/>
                  <a:pt x="150630" y="6350"/>
                  <a:pt x="203200" y="6350"/>
                </a:cubicBezTo>
                <a:cubicBezTo>
                  <a:pt x="255770" y="6350"/>
                  <a:pt x="298450" y="49030"/>
                  <a:pt x="298450" y="101600"/>
                </a:cubicBezTo>
                <a:cubicBezTo>
                  <a:pt x="298450" y="154170"/>
                  <a:pt x="255770" y="196850"/>
                  <a:pt x="203200" y="196850"/>
                </a:cubicBezTo>
                <a:cubicBezTo>
                  <a:pt x="150630" y="196850"/>
                  <a:pt x="107950" y="154170"/>
                  <a:pt x="107950" y="101600"/>
                </a:cubicBezTo>
                <a:close/>
                <a:moveTo>
                  <a:pt x="38100" y="382826"/>
                </a:moveTo>
                <a:cubicBezTo>
                  <a:pt x="38100" y="304641"/>
                  <a:pt x="101441" y="241300"/>
                  <a:pt x="179626" y="241300"/>
                </a:cubicBezTo>
                <a:lnTo>
                  <a:pt x="226774" y="241300"/>
                </a:lnTo>
                <a:cubicBezTo>
                  <a:pt x="304959" y="241300"/>
                  <a:pt x="368300" y="304641"/>
                  <a:pt x="368300" y="382826"/>
                </a:cubicBezTo>
                <a:cubicBezTo>
                  <a:pt x="368300" y="395843"/>
                  <a:pt x="357743" y="406400"/>
                  <a:pt x="344726" y="406400"/>
                </a:cubicBezTo>
                <a:lnTo>
                  <a:pt x="61674" y="406400"/>
                </a:lnTo>
                <a:cubicBezTo>
                  <a:pt x="48657" y="406400"/>
                  <a:pt x="38100" y="395843"/>
                  <a:pt x="38100" y="382826"/>
                </a:cubicBezTo>
                <a:close/>
                <a:moveTo>
                  <a:pt x="431800" y="76200"/>
                </a:moveTo>
                <a:cubicBezTo>
                  <a:pt x="442357" y="76200"/>
                  <a:pt x="450850" y="84693"/>
                  <a:pt x="450850" y="95250"/>
                </a:cubicBezTo>
                <a:lnTo>
                  <a:pt x="450850" y="133350"/>
                </a:lnTo>
                <a:lnTo>
                  <a:pt x="488950" y="133350"/>
                </a:lnTo>
                <a:cubicBezTo>
                  <a:pt x="499507" y="133350"/>
                  <a:pt x="508000" y="141843"/>
                  <a:pt x="508000" y="152400"/>
                </a:cubicBezTo>
                <a:cubicBezTo>
                  <a:pt x="508000" y="162957"/>
                  <a:pt x="499507" y="171450"/>
                  <a:pt x="488950" y="171450"/>
                </a:cubicBezTo>
                <a:lnTo>
                  <a:pt x="450850" y="171450"/>
                </a:lnTo>
                <a:lnTo>
                  <a:pt x="450850" y="209550"/>
                </a:lnTo>
                <a:cubicBezTo>
                  <a:pt x="450850" y="220107"/>
                  <a:pt x="442357" y="228600"/>
                  <a:pt x="431800" y="228600"/>
                </a:cubicBezTo>
                <a:cubicBezTo>
                  <a:pt x="421243" y="228600"/>
                  <a:pt x="412750" y="220107"/>
                  <a:pt x="412750" y="209550"/>
                </a:cubicBezTo>
                <a:lnTo>
                  <a:pt x="412750" y="171450"/>
                </a:lnTo>
                <a:lnTo>
                  <a:pt x="374650" y="171450"/>
                </a:lnTo>
                <a:cubicBezTo>
                  <a:pt x="364093" y="171450"/>
                  <a:pt x="355600" y="162957"/>
                  <a:pt x="355600" y="152400"/>
                </a:cubicBezTo>
                <a:cubicBezTo>
                  <a:pt x="355600" y="141843"/>
                  <a:pt x="364093" y="133350"/>
                  <a:pt x="374650" y="133350"/>
                </a:cubicBezTo>
                <a:lnTo>
                  <a:pt x="412750" y="133350"/>
                </a:lnTo>
                <a:lnTo>
                  <a:pt x="412750" y="95250"/>
                </a:lnTo>
                <a:cubicBezTo>
                  <a:pt x="412750" y="84693"/>
                  <a:pt x="421243" y="76200"/>
                  <a:pt x="431800" y="76200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7305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Cadastro de Usuários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87500" y="3175000"/>
            <a:ext cx="603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Nome, matrícula/registro, tipo (Aluno/Professor/Funcionário), situação (ativo/bloqueado)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2476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1" name="Shape 9"/>
          <p:cNvSpPr/>
          <p:nvPr/>
        </p:nvSpPr>
        <p:spPr>
          <a:xfrm>
            <a:off x="8661400" y="273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406400"/>
                </a:moveTo>
                <a:lnTo>
                  <a:pt x="76200" y="406400"/>
                </a:lnTo>
                <a:cubicBezTo>
                  <a:pt x="34131" y="406400"/>
                  <a:pt x="0" y="372269"/>
                  <a:pt x="0" y="330200"/>
                </a:cubicBezTo>
                <a:lnTo>
                  <a:pt x="0" y="76200"/>
                </a:lnTo>
                <a:cubicBezTo>
                  <a:pt x="0" y="34131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7066"/>
                  <a:pt x="355600" y="38100"/>
                </a:cubicBezTo>
                <a:lnTo>
                  <a:pt x="355600" y="266700"/>
                </a:lnTo>
                <a:cubicBezTo>
                  <a:pt x="355600" y="283289"/>
                  <a:pt x="344964" y="297418"/>
                  <a:pt x="330200" y="302657"/>
                </a:cubicBez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304800" y="406400"/>
                </a:lnTo>
                <a:close/>
                <a:moveTo>
                  <a:pt x="76200" y="304800"/>
                </a:moveTo>
                <a:cubicBezTo>
                  <a:pt x="62151" y="304800"/>
                  <a:pt x="50800" y="316151"/>
                  <a:pt x="50800" y="330200"/>
                </a:cubicBezTo>
                <a:cubicBezTo>
                  <a:pt x="50800" y="344249"/>
                  <a:pt x="62151" y="355600"/>
                  <a:pt x="76200" y="355600"/>
                </a:cubicBezTo>
                <a:lnTo>
                  <a:pt x="279400" y="355600"/>
                </a:lnTo>
                <a:lnTo>
                  <a:pt x="279400" y="304800"/>
                </a:lnTo>
                <a:lnTo>
                  <a:pt x="76200" y="304800"/>
                </a:lnTo>
                <a:close/>
                <a:moveTo>
                  <a:pt x="101600" y="120650"/>
                </a:moveTo>
                <a:cubicBezTo>
                  <a:pt x="101600" y="131207"/>
                  <a:pt x="110093" y="139700"/>
                  <a:pt x="120650" y="139700"/>
                </a:cubicBezTo>
                <a:lnTo>
                  <a:pt x="260350" y="139700"/>
                </a:lnTo>
                <a:cubicBezTo>
                  <a:pt x="270907" y="139700"/>
                  <a:pt x="279400" y="131207"/>
                  <a:pt x="279400" y="120650"/>
                </a:cubicBezTo>
                <a:cubicBezTo>
                  <a:pt x="279400" y="110093"/>
                  <a:pt x="270907" y="101600"/>
                  <a:pt x="260350" y="101600"/>
                </a:cubicBezTo>
                <a:lnTo>
                  <a:pt x="120650" y="101600"/>
                </a:lnTo>
                <a:cubicBezTo>
                  <a:pt x="110093" y="101600"/>
                  <a:pt x="101600" y="110093"/>
                  <a:pt x="101600" y="120650"/>
                </a:cubicBezTo>
                <a:close/>
                <a:moveTo>
                  <a:pt x="120650" y="177800"/>
                </a:moveTo>
                <a:cubicBezTo>
                  <a:pt x="110093" y="177800"/>
                  <a:pt x="101600" y="186293"/>
                  <a:pt x="101600" y="196850"/>
                </a:cubicBezTo>
                <a:cubicBezTo>
                  <a:pt x="101600" y="207407"/>
                  <a:pt x="110093" y="215900"/>
                  <a:pt x="120650" y="215900"/>
                </a:cubicBezTo>
                <a:lnTo>
                  <a:pt x="260350" y="215900"/>
                </a:lnTo>
                <a:cubicBezTo>
                  <a:pt x="270907" y="215900"/>
                  <a:pt x="279400" y="207407"/>
                  <a:pt x="279400" y="196850"/>
                </a:cubicBezTo>
                <a:cubicBezTo>
                  <a:pt x="279400" y="186293"/>
                  <a:pt x="270907" y="177800"/>
                  <a:pt x="260350" y="177800"/>
                </a:cubicBezTo>
                <a:lnTo>
                  <a:pt x="120650" y="177800"/>
                </a:ln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2" name="Text 10"/>
          <p:cNvSpPr/>
          <p:nvPr/>
        </p:nvSpPr>
        <p:spPr>
          <a:xfrm>
            <a:off x="9207500" y="27305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Cadastro de Materiais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207500" y="3175000"/>
            <a:ext cx="603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Título, tipo (Livro/Periódico/Notebook), código de patrimônio, status (disponível/emprestado/reservado/manutenção)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254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450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13439" y="67628"/>
                </a:moveTo>
                <a:lnTo>
                  <a:pt x="120888" y="170498"/>
                </a:lnTo>
                <a:cubicBezTo>
                  <a:pt x="117237" y="174546"/>
                  <a:pt x="117396" y="180816"/>
                  <a:pt x="121285" y="184706"/>
                </a:cubicBezTo>
                <a:cubicBezTo>
                  <a:pt x="145494" y="208915"/>
                  <a:pt x="184785" y="208915"/>
                  <a:pt x="208994" y="184706"/>
                </a:cubicBezTo>
                <a:lnTo>
                  <a:pt x="234236" y="159464"/>
                </a:lnTo>
                <a:cubicBezTo>
                  <a:pt x="237569" y="156131"/>
                  <a:pt x="241776" y="154305"/>
                  <a:pt x="246063" y="153988"/>
                </a:cubicBezTo>
                <a:cubicBezTo>
                  <a:pt x="251460" y="153511"/>
                  <a:pt x="257016" y="155337"/>
                  <a:pt x="261144" y="159464"/>
                </a:cubicBezTo>
                <a:lnTo>
                  <a:pt x="401320" y="298450"/>
                </a:lnTo>
                <a:lnTo>
                  <a:pt x="457200" y="254000"/>
                </a:lnTo>
                <a:lnTo>
                  <a:pt x="457200" y="25400"/>
                </a:lnTo>
                <a:lnTo>
                  <a:pt x="368300" y="76200"/>
                </a:lnTo>
                <a:lnTo>
                  <a:pt x="349409" y="63579"/>
                </a:lnTo>
                <a:cubicBezTo>
                  <a:pt x="336867" y="55245"/>
                  <a:pt x="322183" y="50800"/>
                  <a:pt x="307102" y="50800"/>
                </a:cubicBezTo>
                <a:lnTo>
                  <a:pt x="251222" y="50800"/>
                </a:lnTo>
                <a:cubicBezTo>
                  <a:pt x="250349" y="50800"/>
                  <a:pt x="249396" y="50800"/>
                  <a:pt x="248523" y="50879"/>
                </a:cubicBezTo>
                <a:cubicBezTo>
                  <a:pt x="235109" y="51594"/>
                  <a:pt x="222488" y="57626"/>
                  <a:pt x="213439" y="67627"/>
                </a:cubicBezTo>
                <a:close/>
                <a:moveTo>
                  <a:pt x="92551" y="145018"/>
                </a:moveTo>
                <a:lnTo>
                  <a:pt x="177324" y="50800"/>
                </a:lnTo>
                <a:lnTo>
                  <a:pt x="145891" y="50800"/>
                </a:lnTo>
                <a:cubicBezTo>
                  <a:pt x="125651" y="50800"/>
                  <a:pt x="106283" y="58817"/>
                  <a:pt x="91996" y="73104"/>
                </a:cubicBezTo>
                <a:lnTo>
                  <a:pt x="88900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24143" y="357426"/>
                </a:lnTo>
                <a:cubicBezTo>
                  <a:pt x="142399" y="372666"/>
                  <a:pt x="165418" y="381000"/>
                  <a:pt x="189151" y="381000"/>
                </a:cubicBezTo>
                <a:lnTo>
                  <a:pt x="201613" y="381000"/>
                </a:lnTo>
                <a:lnTo>
                  <a:pt x="196056" y="375444"/>
                </a:lnTo>
                <a:cubicBezTo>
                  <a:pt x="188595" y="367983"/>
                  <a:pt x="188595" y="355918"/>
                  <a:pt x="196056" y="348536"/>
                </a:cubicBezTo>
                <a:cubicBezTo>
                  <a:pt x="203518" y="341154"/>
                  <a:pt x="215583" y="341074"/>
                  <a:pt x="222964" y="348536"/>
                </a:cubicBezTo>
                <a:lnTo>
                  <a:pt x="255508" y="381079"/>
                </a:lnTo>
                <a:lnTo>
                  <a:pt x="262652" y="381079"/>
                </a:lnTo>
                <a:cubicBezTo>
                  <a:pt x="277813" y="381079"/>
                  <a:pt x="292656" y="377666"/>
                  <a:pt x="306149" y="371316"/>
                </a:cubicBezTo>
                <a:lnTo>
                  <a:pt x="284956" y="350044"/>
                </a:lnTo>
                <a:cubicBezTo>
                  <a:pt x="277495" y="342583"/>
                  <a:pt x="277495" y="330518"/>
                  <a:pt x="284956" y="323136"/>
                </a:cubicBezTo>
                <a:cubicBezTo>
                  <a:pt x="292418" y="315754"/>
                  <a:pt x="304483" y="315674"/>
                  <a:pt x="311864" y="323136"/>
                </a:cubicBezTo>
                <a:lnTo>
                  <a:pt x="337264" y="348536"/>
                </a:lnTo>
                <a:lnTo>
                  <a:pt x="351155" y="334645"/>
                </a:lnTo>
                <a:cubicBezTo>
                  <a:pt x="358219" y="327581"/>
                  <a:pt x="360283" y="317341"/>
                  <a:pt x="357188" y="308372"/>
                </a:cubicBezTo>
                <a:lnTo>
                  <a:pt x="247729" y="199787"/>
                </a:lnTo>
                <a:lnTo>
                  <a:pt x="235903" y="211614"/>
                </a:lnTo>
                <a:cubicBezTo>
                  <a:pt x="196771" y="250746"/>
                  <a:pt x="133429" y="250746"/>
                  <a:pt x="94298" y="211614"/>
                </a:cubicBezTo>
                <a:cubicBezTo>
                  <a:pt x="76041" y="193357"/>
                  <a:pt x="75327" y="164068"/>
                  <a:pt x="92551" y="144939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45085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Empréstimo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87500" y="4953000"/>
            <a:ext cx="603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Verifica usuário ativo, limites, disponibilidade do item e regras do prazo (SLA variável por tipo)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4254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60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050" y="152400"/>
                </a:moveTo>
                <a:lnTo>
                  <a:pt x="133350" y="152400"/>
                </a:lnTo>
                <a:cubicBezTo>
                  <a:pt x="141049" y="152400"/>
                  <a:pt x="148034" y="147796"/>
                  <a:pt x="150971" y="140652"/>
                </a:cubicBezTo>
                <a:cubicBezTo>
                  <a:pt x="153908" y="133509"/>
                  <a:pt x="152321" y="125333"/>
                  <a:pt x="146844" y="119856"/>
                </a:cubicBezTo>
                <a:lnTo>
                  <a:pt x="109776" y="82788"/>
                </a:lnTo>
                <a:cubicBezTo>
                  <a:pt x="169545" y="36274"/>
                  <a:pt x="256064" y="40481"/>
                  <a:pt x="310991" y="95409"/>
                </a:cubicBezTo>
                <a:cubicBezTo>
                  <a:pt x="370523" y="154940"/>
                  <a:pt x="370523" y="251381"/>
                  <a:pt x="310991" y="310912"/>
                </a:cubicBezTo>
                <a:cubicBezTo>
                  <a:pt x="251460" y="370443"/>
                  <a:pt x="155019" y="370443"/>
                  <a:pt x="95488" y="310912"/>
                </a:cubicBezTo>
                <a:cubicBezTo>
                  <a:pt x="87392" y="302816"/>
                  <a:pt x="80407" y="294005"/>
                  <a:pt x="74533" y="284718"/>
                </a:cubicBezTo>
                <a:cubicBezTo>
                  <a:pt x="66993" y="272891"/>
                  <a:pt x="51276" y="269399"/>
                  <a:pt x="39449" y="276939"/>
                </a:cubicBezTo>
                <a:cubicBezTo>
                  <a:pt x="27622" y="284480"/>
                  <a:pt x="24130" y="300196"/>
                  <a:pt x="31671" y="312023"/>
                </a:cubicBezTo>
                <a:cubicBezTo>
                  <a:pt x="39449" y="324406"/>
                  <a:pt x="48736" y="336153"/>
                  <a:pt x="59531" y="346869"/>
                </a:cubicBezTo>
                <a:cubicBezTo>
                  <a:pt x="138906" y="426244"/>
                  <a:pt x="267494" y="426244"/>
                  <a:pt x="346869" y="346869"/>
                </a:cubicBezTo>
                <a:cubicBezTo>
                  <a:pt x="426244" y="267494"/>
                  <a:pt x="426244" y="138906"/>
                  <a:pt x="346869" y="59531"/>
                </a:cubicBezTo>
                <a:cubicBezTo>
                  <a:pt x="272098" y="-15319"/>
                  <a:pt x="153432" y="-19606"/>
                  <a:pt x="73581" y="46673"/>
                </a:cubicBezTo>
                <a:lnTo>
                  <a:pt x="32544" y="5556"/>
                </a:lnTo>
                <a:cubicBezTo>
                  <a:pt x="27067" y="159"/>
                  <a:pt x="18891" y="-1508"/>
                  <a:pt x="11748" y="1429"/>
                </a:cubicBezTo>
                <a:cubicBezTo>
                  <a:pt x="4604" y="4366"/>
                  <a:pt x="0" y="11351"/>
                  <a:pt x="0" y="19050"/>
                </a:cubicBezTo>
                <a:lnTo>
                  <a:pt x="0" y="133350"/>
                </a:lnTo>
                <a:cubicBezTo>
                  <a:pt x="0" y="143907"/>
                  <a:pt x="8493" y="152400"/>
                  <a:pt x="19050" y="152400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20" name="Text 18"/>
          <p:cNvSpPr/>
          <p:nvPr/>
        </p:nvSpPr>
        <p:spPr>
          <a:xfrm>
            <a:off x="9207500" y="45085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Devolução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07500" y="4953000"/>
            <a:ext cx="603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Verifica atraso; se houver, gera multa e pode bloquear o usuário no sistema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032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628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24" name="Text 22"/>
          <p:cNvSpPr/>
          <p:nvPr/>
        </p:nvSpPr>
        <p:spPr>
          <a:xfrm>
            <a:off x="1587500" y="62865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87500" y="6731000"/>
            <a:ext cx="603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item estiver emprestado, usuário entra na fila. Quando retorna, notifica o primeiro por 24h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82000" y="6032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7" name="Shape 25"/>
          <p:cNvSpPr/>
          <p:nvPr/>
        </p:nvSpPr>
        <p:spPr>
          <a:xfrm>
            <a:off x="8636000" y="628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28" name="Text 26"/>
          <p:cNvSpPr/>
          <p:nvPr/>
        </p:nvSpPr>
        <p:spPr>
          <a:xfrm>
            <a:off x="9207500" y="62865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Relatórios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07500" y="6731000"/>
            <a:ext cx="603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Materiais mais emprestados, usuários em atraso, multas geradas, materiais em manutenção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Contexto e Objetivos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da Modelagem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14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7145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Classes e responsabilidades claras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Modelar o sistema com cada classe tendo um papel bem definido e uma única responsabilidade principal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524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1714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98000" y="17145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Evitar "Classe Deus"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Nenhuma classe deve fazer tudo. Dividir responsabilidades entre classes especializadas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492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683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3683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Isolar regras que mudam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Prazo, multa, limites e reserva devem estar em componentes separados, não espalhados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3492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683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0" y="3683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Preparar para novas regras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 modelo deve receber novos tipos de usuário e material sem reescrever o sistema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588000"/>
            <a:ext cx="76200" cy="1270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55880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i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meta é transformar regras e processos do mundo real em classes, responsabilidades e colaborações — um modelo que suporta mudanças sem virar um emaranhado de if/else.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Contexto e Objetivos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921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1524000" cy="381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8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Entidades e Atributos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514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Identificando as classes do domínio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Principais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Sete classes principais identificadas no domínio da biblioteca: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648200" cy="190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2260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222500"/>
            <a:ext cx="3632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Usuario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2768600"/>
            <a:ext cx="414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Aluno, Professor ou Funcionário. Dados pessoais e controle de situação.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0" y="2032000"/>
            <a:ext cx="4648200" cy="190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1" name="Shape 9"/>
          <p:cNvSpPr/>
          <p:nvPr/>
        </p:nvSpPr>
        <p:spPr>
          <a:xfrm>
            <a:off x="6067425" y="2260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200" y="2222500"/>
            <a:ext cx="3632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ItemBiblioteca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45200" y="2768600"/>
            <a:ext cx="414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Livro, Periódico ou Notebook. Controle de disponibilidade e status.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833100" y="2032000"/>
            <a:ext cx="4660900" cy="190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64875" y="2260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6759" y="59174"/>
                </a:moveTo>
                <a:lnTo>
                  <a:pt x="105777" y="149185"/>
                </a:lnTo>
                <a:cubicBezTo>
                  <a:pt x="102582" y="152727"/>
                  <a:pt x="102721" y="158214"/>
                  <a:pt x="106124" y="161617"/>
                </a:cubicBezTo>
                <a:cubicBezTo>
                  <a:pt x="127308" y="182801"/>
                  <a:pt x="161687" y="182801"/>
                  <a:pt x="182870" y="161617"/>
                </a:cubicBezTo>
                <a:lnTo>
                  <a:pt x="204956" y="139531"/>
                </a:lnTo>
                <a:cubicBezTo>
                  <a:pt x="207873" y="136614"/>
                  <a:pt x="211554" y="135017"/>
                  <a:pt x="215305" y="134739"/>
                </a:cubicBezTo>
                <a:cubicBezTo>
                  <a:pt x="220028" y="134322"/>
                  <a:pt x="224889" y="135920"/>
                  <a:pt x="228501" y="139531"/>
                </a:cubicBezTo>
                <a:lnTo>
                  <a:pt x="351155" y="261144"/>
                </a:lnTo>
                <a:lnTo>
                  <a:pt x="400050" y="222250"/>
                </a:lnTo>
                <a:lnTo>
                  <a:pt x="400050" y="22225"/>
                </a:lnTo>
                <a:lnTo>
                  <a:pt x="322263" y="66675"/>
                </a:lnTo>
                <a:lnTo>
                  <a:pt x="305733" y="55632"/>
                </a:lnTo>
                <a:cubicBezTo>
                  <a:pt x="294759" y="48339"/>
                  <a:pt x="281910" y="44450"/>
                  <a:pt x="268714" y="44450"/>
                </a:cubicBezTo>
                <a:lnTo>
                  <a:pt x="219819" y="44450"/>
                </a:lnTo>
                <a:cubicBezTo>
                  <a:pt x="219055" y="44450"/>
                  <a:pt x="218222" y="44450"/>
                  <a:pt x="217458" y="44519"/>
                </a:cubicBezTo>
                <a:cubicBezTo>
                  <a:pt x="205720" y="45145"/>
                  <a:pt x="194677" y="50423"/>
                  <a:pt x="186759" y="59174"/>
                </a:cubicBezTo>
                <a:close/>
                <a:moveTo>
                  <a:pt x="80982" y="126891"/>
                </a:moveTo>
                <a:lnTo>
                  <a:pt x="155158" y="44450"/>
                </a:lnTo>
                <a:lnTo>
                  <a:pt x="127655" y="44450"/>
                </a:lnTo>
                <a:cubicBezTo>
                  <a:pt x="109944" y="44450"/>
                  <a:pt x="92998" y="51465"/>
                  <a:pt x="80496" y="63966"/>
                </a:cubicBezTo>
                <a:lnTo>
                  <a:pt x="77788" y="66675"/>
                </a:lnTo>
                <a:lnTo>
                  <a:pt x="0" y="22225"/>
                </a:lnTo>
                <a:lnTo>
                  <a:pt x="0" y="222250"/>
                </a:lnTo>
                <a:lnTo>
                  <a:pt x="108625" y="312747"/>
                </a:lnTo>
                <a:cubicBezTo>
                  <a:pt x="124599" y="326082"/>
                  <a:pt x="144740" y="333375"/>
                  <a:pt x="165507" y="333375"/>
                </a:cubicBezTo>
                <a:lnTo>
                  <a:pt x="176411" y="333375"/>
                </a:lnTo>
                <a:lnTo>
                  <a:pt x="171549" y="328513"/>
                </a:lnTo>
                <a:cubicBezTo>
                  <a:pt x="165021" y="321985"/>
                  <a:pt x="165021" y="311428"/>
                  <a:pt x="171549" y="304969"/>
                </a:cubicBezTo>
                <a:cubicBezTo>
                  <a:pt x="178078" y="298510"/>
                  <a:pt x="188635" y="298440"/>
                  <a:pt x="195094" y="304969"/>
                </a:cubicBezTo>
                <a:lnTo>
                  <a:pt x="223570" y="333444"/>
                </a:lnTo>
                <a:lnTo>
                  <a:pt x="229820" y="333444"/>
                </a:lnTo>
                <a:cubicBezTo>
                  <a:pt x="243086" y="333444"/>
                  <a:pt x="256074" y="330458"/>
                  <a:pt x="267881" y="324902"/>
                </a:cubicBezTo>
                <a:lnTo>
                  <a:pt x="249337" y="306288"/>
                </a:lnTo>
                <a:cubicBezTo>
                  <a:pt x="242808" y="299760"/>
                  <a:pt x="242808" y="289203"/>
                  <a:pt x="249337" y="282744"/>
                </a:cubicBezTo>
                <a:cubicBezTo>
                  <a:pt x="255865" y="276285"/>
                  <a:pt x="266422" y="276215"/>
                  <a:pt x="272881" y="282744"/>
                </a:cubicBezTo>
                <a:lnTo>
                  <a:pt x="295106" y="304969"/>
                </a:lnTo>
                <a:lnTo>
                  <a:pt x="307261" y="292814"/>
                </a:lnTo>
                <a:cubicBezTo>
                  <a:pt x="313442" y="286633"/>
                  <a:pt x="315248" y="277674"/>
                  <a:pt x="312539" y="269825"/>
                </a:cubicBezTo>
                <a:lnTo>
                  <a:pt x="216763" y="174814"/>
                </a:lnTo>
                <a:lnTo>
                  <a:pt x="206415" y="185162"/>
                </a:lnTo>
                <a:cubicBezTo>
                  <a:pt x="172174" y="219402"/>
                  <a:pt x="116751" y="219402"/>
                  <a:pt x="82510" y="185162"/>
                </a:cubicBezTo>
                <a:cubicBezTo>
                  <a:pt x="66536" y="169188"/>
                  <a:pt x="65911" y="143560"/>
                  <a:pt x="80982" y="126821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6" name="Text 14"/>
          <p:cNvSpPr/>
          <p:nvPr/>
        </p:nvSpPr>
        <p:spPr>
          <a:xfrm>
            <a:off x="11595100" y="2222500"/>
            <a:ext cx="36449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Emprestimo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087100" y="2768600"/>
            <a:ext cx="415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Registro de empréstimo com datas, status e multa gerada.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254500"/>
            <a:ext cx="4648200" cy="190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483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4445000"/>
            <a:ext cx="3632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16000" y="4991100"/>
            <a:ext cx="414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Fila de espera por item com validade e notificação.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1200" y="4254500"/>
            <a:ext cx="4648200" cy="190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3" name="Shape 21"/>
          <p:cNvSpPr/>
          <p:nvPr/>
        </p:nvSpPr>
        <p:spPr>
          <a:xfrm>
            <a:off x="6067425" y="4483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14193" y="158839"/>
                </a:moveTo>
                <a:cubicBezTo>
                  <a:pt x="219055" y="151061"/>
                  <a:pt x="216694" y="140781"/>
                  <a:pt x="208915" y="135850"/>
                </a:cubicBezTo>
                <a:cubicBezTo>
                  <a:pt x="201136" y="130919"/>
                  <a:pt x="190857" y="133350"/>
                  <a:pt x="185926" y="141129"/>
                </a:cubicBezTo>
                <a:lnTo>
                  <a:pt x="143282" y="209401"/>
                </a:lnTo>
                <a:lnTo>
                  <a:pt x="124529" y="184398"/>
                </a:lnTo>
                <a:cubicBezTo>
                  <a:pt x="118973" y="177036"/>
                  <a:pt x="108555" y="175508"/>
                  <a:pt x="101193" y="181064"/>
                </a:cubicBezTo>
                <a:cubicBezTo>
                  <a:pt x="93831" y="186621"/>
                  <a:pt x="92303" y="197039"/>
                  <a:pt x="97859" y="204401"/>
                </a:cubicBezTo>
                <a:lnTo>
                  <a:pt x="131197" y="248851"/>
                </a:lnTo>
                <a:cubicBezTo>
                  <a:pt x="134461" y="253226"/>
                  <a:pt x="139740" y="255726"/>
                  <a:pt x="145226" y="255518"/>
                </a:cubicBezTo>
                <a:cubicBezTo>
                  <a:pt x="150713" y="255310"/>
                  <a:pt x="155714" y="252393"/>
                  <a:pt x="158631" y="247670"/>
                </a:cubicBezTo>
                <a:lnTo>
                  <a:pt x="214193" y="158770"/>
                </a:ln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24" name="Text 22"/>
          <p:cNvSpPr/>
          <p:nvPr/>
        </p:nvSpPr>
        <p:spPr>
          <a:xfrm>
            <a:off x="6553200" y="4445000"/>
            <a:ext cx="3632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PoliticaPrazo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45200" y="4991100"/>
            <a:ext cx="414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 de cálculo de prazo de devolução por perfil.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33100" y="4254500"/>
            <a:ext cx="4660900" cy="190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53775" y="44831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94456" y="16669"/>
                </a:moveTo>
                <a:cubicBezTo>
                  <a:pt x="94456" y="7431"/>
                  <a:pt x="101888" y="0"/>
                  <a:pt x="111125" y="0"/>
                </a:cubicBezTo>
                <a:cubicBezTo>
                  <a:pt x="120362" y="0"/>
                  <a:pt x="127794" y="7431"/>
                  <a:pt x="127794" y="16669"/>
                </a:cubicBezTo>
                <a:lnTo>
                  <a:pt x="127794" y="44450"/>
                </a:lnTo>
                <a:lnTo>
                  <a:pt x="166688" y="44450"/>
                </a:lnTo>
                <a:cubicBezTo>
                  <a:pt x="178981" y="44450"/>
                  <a:pt x="188913" y="54382"/>
                  <a:pt x="188913" y="66675"/>
                </a:cubicBezTo>
                <a:cubicBezTo>
                  <a:pt x="188913" y="78968"/>
                  <a:pt x="178981" y="88900"/>
                  <a:pt x="166688" y="88900"/>
                </a:cubicBezTo>
                <a:lnTo>
                  <a:pt x="86886" y="88900"/>
                </a:lnTo>
                <a:cubicBezTo>
                  <a:pt x="69592" y="88900"/>
                  <a:pt x="55563" y="102930"/>
                  <a:pt x="55563" y="120223"/>
                </a:cubicBezTo>
                <a:cubicBezTo>
                  <a:pt x="55563" y="135850"/>
                  <a:pt x="67022" y="149046"/>
                  <a:pt x="82441" y="151269"/>
                </a:cubicBezTo>
                <a:lnTo>
                  <a:pt x="146060" y="160367"/>
                </a:lnTo>
                <a:cubicBezTo>
                  <a:pt x="183426" y="165715"/>
                  <a:pt x="211138" y="197664"/>
                  <a:pt x="211138" y="235377"/>
                </a:cubicBezTo>
                <a:cubicBezTo>
                  <a:pt x="211138" y="277257"/>
                  <a:pt x="177175" y="311150"/>
                  <a:pt x="135364" y="311150"/>
                </a:cubicBezTo>
                <a:lnTo>
                  <a:pt x="127794" y="311150"/>
                </a:lnTo>
                <a:lnTo>
                  <a:pt x="127794" y="338931"/>
                </a:lnTo>
                <a:cubicBezTo>
                  <a:pt x="127794" y="348169"/>
                  <a:pt x="120362" y="355600"/>
                  <a:pt x="111125" y="355600"/>
                </a:cubicBezTo>
                <a:cubicBezTo>
                  <a:pt x="101888" y="355600"/>
                  <a:pt x="94456" y="348169"/>
                  <a:pt x="94456" y="338931"/>
                </a:cubicBezTo>
                <a:lnTo>
                  <a:pt x="94456" y="311150"/>
                </a:lnTo>
                <a:lnTo>
                  <a:pt x="44450" y="311150"/>
                </a:lnTo>
                <a:cubicBezTo>
                  <a:pt x="32157" y="311150"/>
                  <a:pt x="22225" y="301218"/>
                  <a:pt x="22225" y="288925"/>
                </a:cubicBezTo>
                <a:cubicBezTo>
                  <a:pt x="22225" y="276632"/>
                  <a:pt x="32157" y="266700"/>
                  <a:pt x="44450" y="266700"/>
                </a:cubicBezTo>
                <a:lnTo>
                  <a:pt x="135364" y="266700"/>
                </a:lnTo>
                <a:cubicBezTo>
                  <a:pt x="152658" y="266700"/>
                  <a:pt x="166688" y="252670"/>
                  <a:pt x="166688" y="235377"/>
                </a:cubicBezTo>
                <a:cubicBezTo>
                  <a:pt x="166688" y="219750"/>
                  <a:pt x="155228" y="206554"/>
                  <a:pt x="139809" y="204331"/>
                </a:cubicBezTo>
                <a:lnTo>
                  <a:pt x="76190" y="195233"/>
                </a:lnTo>
                <a:cubicBezTo>
                  <a:pt x="38824" y="189954"/>
                  <a:pt x="11112" y="157936"/>
                  <a:pt x="11112" y="120223"/>
                </a:cubicBezTo>
                <a:cubicBezTo>
                  <a:pt x="11112" y="78413"/>
                  <a:pt x="45075" y="44450"/>
                  <a:pt x="86886" y="44450"/>
                </a:cubicBezTo>
                <a:lnTo>
                  <a:pt x="94456" y="44450"/>
                </a:lnTo>
                <a:lnTo>
                  <a:pt x="94456" y="16669"/>
                </a:ln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28" name="Text 26"/>
          <p:cNvSpPr/>
          <p:nvPr/>
        </p:nvSpPr>
        <p:spPr>
          <a:xfrm>
            <a:off x="11595100" y="4445000"/>
            <a:ext cx="36449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PoliticaMulta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087100" y="4991100"/>
            <a:ext cx="415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 de cálculo de multa por atraso e teto.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6600" y="6477000"/>
            <a:ext cx="4648200" cy="1905000"/>
          </a:xfrm>
          <a:prstGeom prst="roundRect">
            <a:avLst>
              <a:gd name="adj" fmla="val 8000"/>
            </a:avLst>
          </a:prstGeom>
          <a:solidFill>
            <a:srgbClr val="2D4A3E"/>
          </a:solidFill>
          <a:ln/>
        </p:spPr>
      </p:sp>
      <p:sp>
        <p:nvSpPr>
          <p:cNvPr id="31" name="Shape 29"/>
          <p:cNvSpPr/>
          <p:nvPr/>
        </p:nvSpPr>
        <p:spPr>
          <a:xfrm>
            <a:off x="3575050" y="6705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122238" y="244475"/>
                </a:moveTo>
                <a:lnTo>
                  <a:pt x="144463" y="244475"/>
                </a:lnTo>
                <a:cubicBezTo>
                  <a:pt x="156756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100013" y="322263"/>
                </a:lnTo>
                <a:lnTo>
                  <a:pt x="100013" y="266700"/>
                </a:lnTo>
                <a:cubicBezTo>
                  <a:pt x="100013" y="254407"/>
                  <a:pt x="109944" y="244475"/>
                  <a:pt x="122238" y="244475"/>
                </a:cubicBezTo>
                <a:close/>
                <a:moveTo>
                  <a:pt x="66675" y="77788"/>
                </a:moveTo>
                <a:cubicBezTo>
                  <a:pt x="66675" y="71676"/>
                  <a:pt x="71676" y="66675"/>
                  <a:pt x="77788" y="66675"/>
                </a:cubicBezTo>
                <a:lnTo>
                  <a:pt x="100013" y="66675"/>
                </a:lnTo>
                <a:cubicBezTo>
                  <a:pt x="106124" y="66675"/>
                  <a:pt x="111125" y="71676"/>
                  <a:pt x="111125" y="77788"/>
                </a:cubicBezTo>
                <a:lnTo>
                  <a:pt x="111125" y="100013"/>
                </a:lnTo>
                <a:cubicBezTo>
                  <a:pt x="111125" y="106124"/>
                  <a:pt x="106124" y="111125"/>
                  <a:pt x="100013" y="111125"/>
                </a:cubicBezTo>
                <a:lnTo>
                  <a:pt x="77788" y="111125"/>
                </a:lnTo>
                <a:cubicBezTo>
                  <a:pt x="71676" y="111125"/>
                  <a:pt x="66675" y="106124"/>
                  <a:pt x="66675" y="100013"/>
                </a:cubicBezTo>
                <a:lnTo>
                  <a:pt x="66675" y="77788"/>
                </a:lnTo>
                <a:close/>
                <a:moveTo>
                  <a:pt x="166688" y="66675"/>
                </a:moveTo>
                <a:lnTo>
                  <a:pt x="188913" y="66675"/>
                </a:lnTo>
                <a:cubicBezTo>
                  <a:pt x="195024" y="66675"/>
                  <a:pt x="200025" y="71676"/>
                  <a:pt x="200025" y="77788"/>
                </a:cubicBezTo>
                <a:lnTo>
                  <a:pt x="200025" y="100013"/>
                </a:lnTo>
                <a:cubicBezTo>
                  <a:pt x="200025" y="106124"/>
                  <a:pt x="195024" y="111125"/>
                  <a:pt x="188913" y="111125"/>
                </a:cubicBezTo>
                <a:lnTo>
                  <a:pt x="166688" y="111125"/>
                </a:lnTo>
                <a:cubicBezTo>
                  <a:pt x="160576" y="111125"/>
                  <a:pt x="155575" y="106124"/>
                  <a:pt x="155575" y="100013"/>
                </a:cubicBezTo>
                <a:lnTo>
                  <a:pt x="155575" y="77788"/>
                </a:lnTo>
                <a:cubicBezTo>
                  <a:pt x="155575" y="71676"/>
                  <a:pt x="160576" y="66675"/>
                  <a:pt x="166688" y="66675"/>
                </a:cubicBezTo>
                <a:close/>
                <a:moveTo>
                  <a:pt x="66675" y="166688"/>
                </a:moveTo>
                <a:cubicBezTo>
                  <a:pt x="66675" y="160576"/>
                  <a:pt x="71676" y="155575"/>
                  <a:pt x="77788" y="155575"/>
                </a:cubicBezTo>
                <a:lnTo>
                  <a:pt x="100013" y="155575"/>
                </a:lnTo>
                <a:cubicBezTo>
                  <a:pt x="106124" y="155575"/>
                  <a:pt x="111125" y="160576"/>
                  <a:pt x="111125" y="166688"/>
                </a:cubicBezTo>
                <a:lnTo>
                  <a:pt x="111125" y="188913"/>
                </a:lnTo>
                <a:cubicBezTo>
                  <a:pt x="111125" y="195024"/>
                  <a:pt x="106124" y="200025"/>
                  <a:pt x="100013" y="200025"/>
                </a:cubicBezTo>
                <a:lnTo>
                  <a:pt x="77788" y="200025"/>
                </a:lnTo>
                <a:cubicBezTo>
                  <a:pt x="71676" y="200025"/>
                  <a:pt x="66675" y="195024"/>
                  <a:pt x="66675" y="188913"/>
                </a:cubicBezTo>
                <a:lnTo>
                  <a:pt x="66675" y="166688"/>
                </a:lnTo>
                <a:close/>
                <a:moveTo>
                  <a:pt x="166688" y="155575"/>
                </a:moveTo>
                <a:lnTo>
                  <a:pt x="188913" y="155575"/>
                </a:lnTo>
                <a:cubicBezTo>
                  <a:pt x="195024" y="155575"/>
                  <a:pt x="200025" y="160576"/>
                  <a:pt x="200025" y="166688"/>
                </a:cubicBezTo>
                <a:lnTo>
                  <a:pt x="200025" y="188913"/>
                </a:lnTo>
                <a:cubicBezTo>
                  <a:pt x="200025" y="195024"/>
                  <a:pt x="195024" y="200025"/>
                  <a:pt x="188913" y="200025"/>
                </a:cubicBezTo>
                <a:lnTo>
                  <a:pt x="166688" y="200025"/>
                </a:lnTo>
                <a:cubicBezTo>
                  <a:pt x="160576" y="200025"/>
                  <a:pt x="155575" y="195024"/>
                  <a:pt x="155575" y="188913"/>
                </a:cubicBezTo>
                <a:lnTo>
                  <a:pt x="155575" y="166688"/>
                </a:lnTo>
                <a:cubicBezTo>
                  <a:pt x="155575" y="160576"/>
                  <a:pt x="160576" y="155575"/>
                  <a:pt x="166688" y="1555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038600" y="6667500"/>
            <a:ext cx="3632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Biblioteca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30600" y="7213600"/>
            <a:ext cx="414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Coordena operações e delega regras. Fachada do sistema.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Entidades e Atributos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 Usuario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6858000" cy="4699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Atributos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20574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nome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nome completo do usuário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matricula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número de matrícula ou registro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tipo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Aluno, Professor ou Funcionário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situacao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ativo ou bloqueado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multaAcumulada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valor total em multas pendentes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0" y="1397000"/>
            <a:ext cx="7493000" cy="4699000"/>
          </a:xfrm>
          <a:prstGeom prst="roundRect">
            <a:avLst>
              <a:gd name="adj" fmla="val 8000"/>
            </a:avLst>
          </a:prstGeom>
          <a:solidFill>
            <a:srgbClr val="2D4A3E"/>
          </a:solidFill>
          <a:ln/>
        </p:spPr>
      </p:sp>
      <p:sp>
        <p:nvSpPr>
          <p:cNvPr id="10" name="Text 8"/>
          <p:cNvSpPr/>
          <p:nvPr/>
        </p:nvSpPr>
        <p:spPr>
          <a:xfrm>
            <a:off x="8255000" y="1587500"/>
            <a:ext cx="698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Observações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55000" y="2057400"/>
            <a:ext cx="6985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55000" y="2222500"/>
            <a:ext cx="6985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Centraliza os dados do usuário e permite verificar se ele pode realizar empréstimos.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situação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bloqueado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impede novos empréstimos até que multas sejam pagas ou o bloqueio seja removido manualmente.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660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Usuário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16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C17F4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Aluno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02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C17F4E"/>
          </a:solidFill>
          <a:ln/>
        </p:spPr>
      </p:sp>
      <p:sp>
        <p:nvSpPr>
          <p:cNvPr id="18" name="Text 16"/>
          <p:cNvSpPr/>
          <p:nvPr/>
        </p:nvSpPr>
        <p:spPr>
          <a:xfrm>
            <a:off x="3302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8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C17F4E"/>
          </a:solidFill>
          <a:ln/>
        </p:spPr>
      </p:sp>
      <p:sp>
        <p:nvSpPr>
          <p:cNvPr id="20" name="Text 18"/>
          <p:cNvSpPr/>
          <p:nvPr/>
        </p:nvSpPr>
        <p:spPr>
          <a:xfrm>
            <a:off x="5588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Funcionário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Entidades e Atributos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 ItemBiblioteca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6858000" cy="4699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Atributos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20574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titulo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título do material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tipo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Livro, Periódico ou Notebook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codigoPatrimonio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código único do item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status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disponível, emprestado, reservado ou manutenção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0" y="1397000"/>
            <a:ext cx="7493000" cy="4699000"/>
          </a:xfrm>
          <a:prstGeom prst="roundRect">
            <a:avLst>
              <a:gd name="adj" fmla="val 8000"/>
            </a:avLst>
          </a:prstGeom>
          <a:solidFill>
            <a:srgbClr val="2D4A3E"/>
          </a:solidFill>
          <a:ln/>
        </p:spPr>
      </p:sp>
      <p:sp>
        <p:nvSpPr>
          <p:cNvPr id="10" name="Text 8"/>
          <p:cNvSpPr/>
          <p:nvPr/>
        </p:nvSpPr>
        <p:spPr>
          <a:xfrm>
            <a:off x="8255000" y="1587500"/>
            <a:ext cx="698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Observações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55000" y="2057400"/>
            <a:ext cx="6985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55000" y="2222500"/>
            <a:ext cx="6985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Representa qualquer material da biblioteca e controla sua disponibilidade.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status é atualizado pelo sistema de empréstimo e devolução. Notebooks são de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 interno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apenas, não podendo ser retirados da biblioteca.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660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Material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16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C17F4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Livro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02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C17F4E"/>
          </a:solidFill>
          <a:ln/>
        </p:spPr>
      </p:sp>
      <p:sp>
        <p:nvSpPr>
          <p:cNvPr id="18" name="Text 16"/>
          <p:cNvSpPr/>
          <p:nvPr/>
        </p:nvSpPr>
        <p:spPr>
          <a:xfrm>
            <a:off x="3302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Periódico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8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C17F4E"/>
          </a:solidFill>
          <a:ln/>
        </p:spPr>
      </p:sp>
      <p:sp>
        <p:nvSpPr>
          <p:cNvPr id="20" name="Text 18"/>
          <p:cNvSpPr/>
          <p:nvPr/>
        </p:nvSpPr>
        <p:spPr>
          <a:xfrm>
            <a:off x="5588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Notebook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2D4A3E"/>
          </a:solidFill>
          <a:ln/>
        </p:spPr>
      </p:sp>
      <p:sp>
        <p:nvSpPr>
          <p:cNvPr id="22" name="Text 20"/>
          <p:cNvSpPr/>
          <p:nvPr/>
        </p:nvSpPr>
        <p:spPr>
          <a:xfrm>
            <a:off x="8128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Disponível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14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2D4A3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4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Emprestado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00000" y="7112000"/>
            <a:ext cx="2032000" cy="508000"/>
          </a:xfrm>
          <a:prstGeom prst="roundRect">
            <a:avLst>
              <a:gd name="adj" fmla="val 12000"/>
            </a:avLst>
          </a:prstGeom>
          <a:solidFill>
            <a:srgbClr val="2D4A3E"/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00" y="711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Reservado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0" y="660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Possíveis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Entidades e Atributos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de Suporte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6" name="Shape 4"/>
          <p:cNvSpPr/>
          <p:nvPr/>
        </p:nvSpPr>
        <p:spPr>
          <a:xfrm>
            <a:off x="995363" y="15875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173419" y="54947"/>
                </a:moveTo>
                <a:lnTo>
                  <a:pt x="98222" y="138529"/>
                </a:lnTo>
                <a:cubicBezTo>
                  <a:pt x="95255" y="141818"/>
                  <a:pt x="95384" y="146913"/>
                  <a:pt x="98544" y="150073"/>
                </a:cubicBezTo>
                <a:cubicBezTo>
                  <a:pt x="118214" y="169743"/>
                  <a:pt x="150138" y="169743"/>
                  <a:pt x="169808" y="150073"/>
                </a:cubicBezTo>
                <a:lnTo>
                  <a:pt x="190316" y="129565"/>
                </a:lnTo>
                <a:cubicBezTo>
                  <a:pt x="193025" y="126856"/>
                  <a:pt x="196443" y="125373"/>
                  <a:pt x="199926" y="125115"/>
                </a:cubicBezTo>
                <a:cubicBezTo>
                  <a:pt x="204311" y="124728"/>
                  <a:pt x="208826" y="126211"/>
                  <a:pt x="212179" y="129565"/>
                </a:cubicBezTo>
                <a:lnTo>
                  <a:pt x="326073" y="242491"/>
                </a:lnTo>
                <a:lnTo>
                  <a:pt x="371475" y="206375"/>
                </a:lnTo>
                <a:lnTo>
                  <a:pt x="371475" y="20638"/>
                </a:lnTo>
                <a:lnTo>
                  <a:pt x="299244" y="61912"/>
                </a:lnTo>
                <a:lnTo>
                  <a:pt x="283895" y="51658"/>
                </a:lnTo>
                <a:cubicBezTo>
                  <a:pt x="273705" y="44887"/>
                  <a:pt x="261774" y="41275"/>
                  <a:pt x="249520" y="41275"/>
                </a:cubicBezTo>
                <a:lnTo>
                  <a:pt x="204118" y="41275"/>
                </a:lnTo>
                <a:cubicBezTo>
                  <a:pt x="203408" y="41275"/>
                  <a:pt x="202634" y="41275"/>
                  <a:pt x="201925" y="41339"/>
                </a:cubicBezTo>
                <a:cubicBezTo>
                  <a:pt x="191026" y="41920"/>
                  <a:pt x="180772" y="46821"/>
                  <a:pt x="173419" y="54947"/>
                </a:cubicBezTo>
                <a:close/>
                <a:moveTo>
                  <a:pt x="75198" y="117827"/>
                </a:moveTo>
                <a:lnTo>
                  <a:pt x="144076" y="41275"/>
                </a:lnTo>
                <a:lnTo>
                  <a:pt x="118537" y="41275"/>
                </a:lnTo>
                <a:cubicBezTo>
                  <a:pt x="102091" y="41275"/>
                  <a:pt x="86355" y="47789"/>
                  <a:pt x="74746" y="59397"/>
                </a:cubicBezTo>
                <a:lnTo>
                  <a:pt x="72231" y="61912"/>
                </a:lnTo>
                <a:lnTo>
                  <a:pt x="0" y="20638"/>
                </a:lnTo>
                <a:lnTo>
                  <a:pt x="0" y="206375"/>
                </a:lnTo>
                <a:lnTo>
                  <a:pt x="100866" y="290408"/>
                </a:lnTo>
                <a:cubicBezTo>
                  <a:pt x="115699" y="302791"/>
                  <a:pt x="134402" y="309563"/>
                  <a:pt x="153685" y="309563"/>
                </a:cubicBezTo>
                <a:lnTo>
                  <a:pt x="163810" y="309563"/>
                </a:lnTo>
                <a:lnTo>
                  <a:pt x="159296" y="305048"/>
                </a:lnTo>
                <a:cubicBezTo>
                  <a:pt x="153233" y="298986"/>
                  <a:pt x="153233" y="289183"/>
                  <a:pt x="159296" y="283185"/>
                </a:cubicBezTo>
                <a:cubicBezTo>
                  <a:pt x="165358" y="277187"/>
                  <a:pt x="175161" y="277123"/>
                  <a:pt x="181159" y="283185"/>
                </a:cubicBezTo>
                <a:lnTo>
                  <a:pt x="207600" y="309627"/>
                </a:lnTo>
                <a:lnTo>
                  <a:pt x="213405" y="309627"/>
                </a:lnTo>
                <a:cubicBezTo>
                  <a:pt x="225723" y="309627"/>
                  <a:pt x="237783" y="306854"/>
                  <a:pt x="248746" y="301694"/>
                </a:cubicBezTo>
                <a:lnTo>
                  <a:pt x="231527" y="284411"/>
                </a:lnTo>
                <a:cubicBezTo>
                  <a:pt x="225465" y="278348"/>
                  <a:pt x="225465" y="268545"/>
                  <a:pt x="231527" y="262548"/>
                </a:cubicBezTo>
                <a:cubicBezTo>
                  <a:pt x="237589" y="256550"/>
                  <a:pt x="247392" y="256485"/>
                  <a:pt x="253390" y="262548"/>
                </a:cubicBezTo>
                <a:lnTo>
                  <a:pt x="274027" y="283185"/>
                </a:lnTo>
                <a:lnTo>
                  <a:pt x="285313" y="271899"/>
                </a:lnTo>
                <a:cubicBezTo>
                  <a:pt x="291053" y="266159"/>
                  <a:pt x="292730" y="257840"/>
                  <a:pt x="290215" y="250552"/>
                </a:cubicBezTo>
                <a:lnTo>
                  <a:pt x="201280" y="162327"/>
                </a:lnTo>
                <a:lnTo>
                  <a:pt x="191671" y="171936"/>
                </a:lnTo>
                <a:cubicBezTo>
                  <a:pt x="159876" y="203731"/>
                  <a:pt x="108411" y="203731"/>
                  <a:pt x="76617" y="171936"/>
                </a:cubicBezTo>
                <a:cubicBezTo>
                  <a:pt x="61784" y="157103"/>
                  <a:pt x="61203" y="133305"/>
                  <a:pt x="75198" y="117763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562100"/>
            <a:ext cx="612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Emprestimo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usuario, itemBiblioteca, dataEmprestimo, dataPrevistaDevolucao, dataDevolucao, status (ativo/finalizado), multaGerada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0" y="158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cubicBezTo>
                  <a:pt x="256221" y="0"/>
                  <a:pt x="330200" y="73979"/>
                  <a:pt x="330200" y="165100"/>
                </a:cubicBezTo>
                <a:cubicBezTo>
                  <a:pt x="330200" y="256221"/>
                  <a:pt x="256221" y="330200"/>
                  <a:pt x="165100" y="330200"/>
                </a:cubicBezTo>
                <a:cubicBezTo>
                  <a:pt x="73979" y="330200"/>
                  <a:pt x="0" y="256221"/>
                  <a:pt x="0" y="165100"/>
                </a:cubicBezTo>
                <a:cubicBezTo>
                  <a:pt x="0" y="73979"/>
                  <a:pt x="73979" y="0"/>
                  <a:pt x="165100" y="0"/>
                </a:cubicBezTo>
                <a:close/>
                <a:moveTo>
                  <a:pt x="149622" y="77391"/>
                </a:moveTo>
                <a:lnTo>
                  <a:pt x="149622" y="165100"/>
                </a:lnTo>
                <a:cubicBezTo>
                  <a:pt x="149622" y="170259"/>
                  <a:pt x="152202" y="175096"/>
                  <a:pt x="156523" y="177998"/>
                </a:cubicBezTo>
                <a:lnTo>
                  <a:pt x="218435" y="219273"/>
                </a:lnTo>
                <a:cubicBezTo>
                  <a:pt x="225529" y="224046"/>
                  <a:pt x="235139" y="222111"/>
                  <a:pt x="239911" y="214952"/>
                </a:cubicBezTo>
                <a:cubicBezTo>
                  <a:pt x="244683" y="207794"/>
                  <a:pt x="242749" y="198249"/>
                  <a:pt x="235590" y="193477"/>
                </a:cubicBezTo>
                <a:lnTo>
                  <a:pt x="180578" y="156845"/>
                </a:lnTo>
                <a:lnTo>
                  <a:pt x="180578" y="77391"/>
                </a:lnTo>
                <a:cubicBezTo>
                  <a:pt x="180578" y="68813"/>
                  <a:pt x="173677" y="61912"/>
                  <a:pt x="165100" y="61912"/>
                </a:cubicBezTo>
                <a:cubicBezTo>
                  <a:pt x="156523" y="61912"/>
                  <a:pt x="149622" y="68813"/>
                  <a:pt x="149622" y="77391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1" name="Text 9"/>
          <p:cNvSpPr/>
          <p:nvPr/>
        </p:nvSpPr>
        <p:spPr>
          <a:xfrm>
            <a:off x="9118600" y="1562100"/>
            <a:ext cx="612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36000" y="20320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filaUsuarios (lista), itemBiblioteca, dataValidade. Controla a fila de espera e notifica o próximo usuário quando o item é devolvido.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8735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6638" y="40640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82550" y="0"/>
                </a:moveTo>
                <a:cubicBezTo>
                  <a:pt x="93965" y="0"/>
                  <a:pt x="103188" y="9222"/>
                  <a:pt x="103188" y="20638"/>
                </a:cubicBezTo>
                <a:lnTo>
                  <a:pt x="103188" y="41275"/>
                </a:lnTo>
                <a:lnTo>
                  <a:pt x="185738" y="41275"/>
                </a:lnTo>
                <a:lnTo>
                  <a:pt x="185738" y="20638"/>
                </a:lnTo>
                <a:cubicBezTo>
                  <a:pt x="185738" y="9222"/>
                  <a:pt x="194960" y="0"/>
                  <a:pt x="206375" y="0"/>
                </a:cubicBezTo>
                <a:cubicBezTo>
                  <a:pt x="217790" y="0"/>
                  <a:pt x="227013" y="9222"/>
                  <a:pt x="227013" y="20638"/>
                </a:cubicBezTo>
                <a:lnTo>
                  <a:pt x="227013" y="41275"/>
                </a:lnTo>
                <a:lnTo>
                  <a:pt x="247650" y="41275"/>
                </a:lnTo>
                <a:cubicBezTo>
                  <a:pt x="270416" y="41275"/>
                  <a:pt x="288925" y="59784"/>
                  <a:pt x="288925" y="82550"/>
                </a:cubicBezTo>
                <a:lnTo>
                  <a:pt x="288925" y="268288"/>
                </a:lnTo>
                <a:cubicBezTo>
                  <a:pt x="288925" y="291053"/>
                  <a:pt x="270416" y="309563"/>
                  <a:pt x="247650" y="309563"/>
                </a:cubicBezTo>
                <a:lnTo>
                  <a:pt x="41275" y="309563"/>
                </a:lnTo>
                <a:cubicBezTo>
                  <a:pt x="18509" y="309563"/>
                  <a:pt x="0" y="291053"/>
                  <a:pt x="0" y="268288"/>
                </a:cubicBezTo>
                <a:lnTo>
                  <a:pt x="0" y="82550"/>
                </a:lnTo>
                <a:cubicBezTo>
                  <a:pt x="0" y="59784"/>
                  <a:pt x="18509" y="41275"/>
                  <a:pt x="41275" y="41275"/>
                </a:cubicBezTo>
                <a:lnTo>
                  <a:pt x="61912" y="41275"/>
                </a:lnTo>
                <a:lnTo>
                  <a:pt x="61912" y="20638"/>
                </a:lnTo>
                <a:cubicBezTo>
                  <a:pt x="61912" y="9222"/>
                  <a:pt x="71135" y="0"/>
                  <a:pt x="82550" y="0"/>
                </a:cubicBezTo>
                <a:close/>
                <a:moveTo>
                  <a:pt x="198894" y="147494"/>
                </a:moveTo>
                <a:cubicBezTo>
                  <a:pt x="203408" y="140271"/>
                  <a:pt x="201216" y="130726"/>
                  <a:pt x="193992" y="126147"/>
                </a:cubicBezTo>
                <a:cubicBezTo>
                  <a:pt x="186769" y="121568"/>
                  <a:pt x="177225" y="123825"/>
                  <a:pt x="172646" y="131048"/>
                </a:cubicBezTo>
                <a:lnTo>
                  <a:pt x="133047" y="194444"/>
                </a:lnTo>
                <a:lnTo>
                  <a:pt x="115634" y="171227"/>
                </a:lnTo>
                <a:cubicBezTo>
                  <a:pt x="110475" y="164391"/>
                  <a:pt x="100801" y="162972"/>
                  <a:pt x="93965" y="168131"/>
                </a:cubicBezTo>
                <a:cubicBezTo>
                  <a:pt x="87129" y="173291"/>
                  <a:pt x="85710" y="182964"/>
                  <a:pt x="90869" y="189801"/>
                </a:cubicBezTo>
                <a:lnTo>
                  <a:pt x="121826" y="231076"/>
                </a:lnTo>
                <a:cubicBezTo>
                  <a:pt x="124857" y="235139"/>
                  <a:pt x="129758" y="237460"/>
                  <a:pt x="134853" y="237267"/>
                </a:cubicBezTo>
                <a:cubicBezTo>
                  <a:pt x="139948" y="237073"/>
                  <a:pt x="144591" y="234365"/>
                  <a:pt x="147300" y="229979"/>
                </a:cubicBezTo>
                <a:lnTo>
                  <a:pt x="198894" y="147429"/>
                </a:ln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4038600"/>
            <a:ext cx="612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PoliticaPrazo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16000" y="45085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Regras de cálculo de prazo de devolução. Varia por tipo de usuário e tipo de material. Isola a regra que muda.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38735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7913" y="4064000"/>
            <a:ext cx="206375" cy="330200"/>
          </a:xfrm>
          <a:custGeom>
            <a:avLst/>
            <a:gdLst/>
            <a:ahLst/>
            <a:cxnLst/>
            <a:rect l="l" t="t" r="r" b="b"/>
            <a:pathLst>
              <a:path w="206375" h="330200">
                <a:moveTo>
                  <a:pt x="87709" y="15478"/>
                </a:moveTo>
                <a:cubicBezTo>
                  <a:pt x="87709" y="6901"/>
                  <a:pt x="94610" y="0"/>
                  <a:pt x="103188" y="0"/>
                </a:cubicBezTo>
                <a:cubicBezTo>
                  <a:pt x="111765" y="0"/>
                  <a:pt x="118666" y="6901"/>
                  <a:pt x="118666" y="15478"/>
                </a:cubicBezTo>
                <a:lnTo>
                  <a:pt x="118666" y="41275"/>
                </a:lnTo>
                <a:lnTo>
                  <a:pt x="154781" y="41275"/>
                </a:lnTo>
                <a:cubicBezTo>
                  <a:pt x="166196" y="41275"/>
                  <a:pt x="175419" y="50497"/>
                  <a:pt x="175419" y="61912"/>
                </a:cubicBezTo>
                <a:cubicBezTo>
                  <a:pt x="175419" y="73328"/>
                  <a:pt x="166196" y="82550"/>
                  <a:pt x="154781" y="82550"/>
                </a:cubicBezTo>
                <a:lnTo>
                  <a:pt x="80680" y="82550"/>
                </a:lnTo>
                <a:cubicBezTo>
                  <a:pt x="64621" y="82550"/>
                  <a:pt x="51594" y="95577"/>
                  <a:pt x="51594" y="111636"/>
                </a:cubicBezTo>
                <a:cubicBezTo>
                  <a:pt x="51594" y="126147"/>
                  <a:pt x="62235" y="138400"/>
                  <a:pt x="76552" y="140464"/>
                </a:cubicBezTo>
                <a:lnTo>
                  <a:pt x="135627" y="148912"/>
                </a:lnTo>
                <a:cubicBezTo>
                  <a:pt x="170324" y="153878"/>
                  <a:pt x="196056" y="183545"/>
                  <a:pt x="196056" y="218564"/>
                </a:cubicBezTo>
                <a:cubicBezTo>
                  <a:pt x="196056" y="257453"/>
                  <a:pt x="164520" y="288925"/>
                  <a:pt x="125695" y="288925"/>
                </a:cubicBezTo>
                <a:lnTo>
                  <a:pt x="118666" y="288925"/>
                </a:lnTo>
                <a:lnTo>
                  <a:pt x="118666" y="314722"/>
                </a:lnTo>
                <a:cubicBezTo>
                  <a:pt x="118666" y="323299"/>
                  <a:pt x="111765" y="330200"/>
                  <a:pt x="103188" y="330200"/>
                </a:cubicBezTo>
                <a:cubicBezTo>
                  <a:pt x="94610" y="330200"/>
                  <a:pt x="87709" y="323299"/>
                  <a:pt x="87709" y="314722"/>
                </a:cubicBezTo>
                <a:lnTo>
                  <a:pt x="87709" y="288925"/>
                </a:lnTo>
                <a:lnTo>
                  <a:pt x="41275" y="288925"/>
                </a:lnTo>
                <a:cubicBezTo>
                  <a:pt x="29860" y="288925"/>
                  <a:pt x="20638" y="279703"/>
                  <a:pt x="20638" y="268288"/>
                </a:cubicBezTo>
                <a:cubicBezTo>
                  <a:pt x="20638" y="256872"/>
                  <a:pt x="29860" y="247650"/>
                  <a:pt x="41275" y="247650"/>
                </a:cubicBezTo>
                <a:lnTo>
                  <a:pt x="125695" y="247650"/>
                </a:lnTo>
                <a:cubicBezTo>
                  <a:pt x="141754" y="247650"/>
                  <a:pt x="154781" y="234623"/>
                  <a:pt x="154781" y="218564"/>
                </a:cubicBezTo>
                <a:cubicBezTo>
                  <a:pt x="154781" y="204053"/>
                  <a:pt x="144140" y="191800"/>
                  <a:pt x="129823" y="189736"/>
                </a:cubicBezTo>
                <a:lnTo>
                  <a:pt x="70748" y="181288"/>
                </a:lnTo>
                <a:cubicBezTo>
                  <a:pt x="36051" y="176386"/>
                  <a:pt x="10319" y="146655"/>
                  <a:pt x="10319" y="111636"/>
                </a:cubicBezTo>
                <a:cubicBezTo>
                  <a:pt x="10319" y="72812"/>
                  <a:pt x="41855" y="41275"/>
                  <a:pt x="80680" y="41275"/>
                </a:cubicBezTo>
                <a:lnTo>
                  <a:pt x="87709" y="41275"/>
                </a:lnTo>
                <a:lnTo>
                  <a:pt x="87709" y="15478"/>
                </a:ln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9" name="Text 17"/>
          <p:cNvSpPr/>
          <p:nvPr/>
        </p:nvSpPr>
        <p:spPr>
          <a:xfrm>
            <a:off x="9118600" y="4038600"/>
            <a:ext cx="612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PoliticaMulta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36000" y="45085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Regras de cálculo de multa por atraso. Pode incluir teto por item e regras de bloqueio. Isola a regra que muda.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0" y="63500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2D4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7275" y="65405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41275" y="0"/>
                </a:moveTo>
                <a:cubicBezTo>
                  <a:pt x="18509" y="0"/>
                  <a:pt x="0" y="18509"/>
                  <a:pt x="0" y="41275"/>
                </a:cubicBezTo>
                <a:lnTo>
                  <a:pt x="0" y="288925"/>
                </a:lnTo>
                <a:cubicBezTo>
                  <a:pt x="0" y="311691"/>
                  <a:pt x="18509" y="330200"/>
                  <a:pt x="41275" y="330200"/>
                </a:cubicBezTo>
                <a:lnTo>
                  <a:pt x="206375" y="330200"/>
                </a:lnTo>
                <a:cubicBezTo>
                  <a:pt x="229141" y="330200"/>
                  <a:pt x="247650" y="311691"/>
                  <a:pt x="247650" y="288925"/>
                </a:cubicBezTo>
                <a:lnTo>
                  <a:pt x="247650" y="41275"/>
                </a:lnTo>
                <a:cubicBezTo>
                  <a:pt x="247650" y="18509"/>
                  <a:pt x="229141" y="0"/>
                  <a:pt x="206375" y="0"/>
                </a:cubicBezTo>
                <a:lnTo>
                  <a:pt x="41275" y="0"/>
                </a:lnTo>
                <a:close/>
                <a:moveTo>
                  <a:pt x="113506" y="227013"/>
                </a:moveTo>
                <a:lnTo>
                  <a:pt x="134144" y="227013"/>
                </a:lnTo>
                <a:cubicBezTo>
                  <a:pt x="145559" y="227013"/>
                  <a:pt x="154781" y="236235"/>
                  <a:pt x="154781" y="247650"/>
                </a:cubicBezTo>
                <a:lnTo>
                  <a:pt x="154781" y="299244"/>
                </a:lnTo>
                <a:lnTo>
                  <a:pt x="92869" y="299244"/>
                </a:lnTo>
                <a:lnTo>
                  <a:pt x="92869" y="247650"/>
                </a:lnTo>
                <a:cubicBezTo>
                  <a:pt x="92869" y="236235"/>
                  <a:pt x="102091" y="227013"/>
                  <a:pt x="113506" y="227013"/>
                </a:cubicBezTo>
                <a:close/>
                <a:moveTo>
                  <a:pt x="61912" y="72231"/>
                </a:moveTo>
                <a:cubicBezTo>
                  <a:pt x="61912" y="66556"/>
                  <a:pt x="66556" y="61912"/>
                  <a:pt x="72231" y="61912"/>
                </a:cubicBezTo>
                <a:lnTo>
                  <a:pt x="92869" y="61912"/>
                </a:lnTo>
                <a:cubicBezTo>
                  <a:pt x="98544" y="61912"/>
                  <a:pt x="103188" y="66556"/>
                  <a:pt x="103188" y="72231"/>
                </a:cubicBezTo>
                <a:lnTo>
                  <a:pt x="103188" y="92869"/>
                </a:lnTo>
                <a:cubicBezTo>
                  <a:pt x="103188" y="98544"/>
                  <a:pt x="98544" y="103188"/>
                  <a:pt x="92869" y="103188"/>
                </a:cubicBezTo>
                <a:lnTo>
                  <a:pt x="72231" y="103188"/>
                </a:lnTo>
                <a:cubicBezTo>
                  <a:pt x="66556" y="103188"/>
                  <a:pt x="61912" y="98544"/>
                  <a:pt x="61912" y="92869"/>
                </a:cubicBezTo>
                <a:lnTo>
                  <a:pt x="61912" y="72231"/>
                </a:lnTo>
                <a:close/>
                <a:moveTo>
                  <a:pt x="154781" y="61912"/>
                </a:moveTo>
                <a:lnTo>
                  <a:pt x="175419" y="61912"/>
                </a:lnTo>
                <a:cubicBezTo>
                  <a:pt x="181094" y="61912"/>
                  <a:pt x="185738" y="66556"/>
                  <a:pt x="185738" y="72231"/>
                </a:cubicBezTo>
                <a:lnTo>
                  <a:pt x="185738" y="92869"/>
                </a:lnTo>
                <a:cubicBezTo>
                  <a:pt x="185738" y="98544"/>
                  <a:pt x="181094" y="103188"/>
                  <a:pt x="175419" y="103188"/>
                </a:cubicBezTo>
                <a:lnTo>
                  <a:pt x="154781" y="103188"/>
                </a:lnTo>
                <a:cubicBezTo>
                  <a:pt x="149106" y="103188"/>
                  <a:pt x="144463" y="98544"/>
                  <a:pt x="144463" y="92869"/>
                </a:cubicBezTo>
                <a:lnTo>
                  <a:pt x="144463" y="72231"/>
                </a:lnTo>
                <a:cubicBezTo>
                  <a:pt x="144463" y="66556"/>
                  <a:pt x="149106" y="61912"/>
                  <a:pt x="154781" y="61912"/>
                </a:cubicBezTo>
                <a:close/>
                <a:moveTo>
                  <a:pt x="61912" y="154781"/>
                </a:moveTo>
                <a:cubicBezTo>
                  <a:pt x="61912" y="149106"/>
                  <a:pt x="66556" y="144463"/>
                  <a:pt x="72231" y="144463"/>
                </a:cubicBezTo>
                <a:lnTo>
                  <a:pt x="92869" y="144463"/>
                </a:lnTo>
                <a:cubicBezTo>
                  <a:pt x="98544" y="144463"/>
                  <a:pt x="103188" y="149106"/>
                  <a:pt x="103188" y="154781"/>
                </a:cubicBezTo>
                <a:lnTo>
                  <a:pt x="103188" y="175419"/>
                </a:lnTo>
                <a:cubicBezTo>
                  <a:pt x="103188" y="181094"/>
                  <a:pt x="98544" y="185738"/>
                  <a:pt x="92869" y="185738"/>
                </a:cubicBezTo>
                <a:lnTo>
                  <a:pt x="72231" y="185738"/>
                </a:lnTo>
                <a:cubicBezTo>
                  <a:pt x="66556" y="185738"/>
                  <a:pt x="61912" y="181094"/>
                  <a:pt x="61912" y="175419"/>
                </a:cubicBezTo>
                <a:lnTo>
                  <a:pt x="61912" y="154781"/>
                </a:lnTo>
                <a:close/>
                <a:moveTo>
                  <a:pt x="154781" y="144463"/>
                </a:moveTo>
                <a:lnTo>
                  <a:pt x="175419" y="144463"/>
                </a:lnTo>
                <a:cubicBezTo>
                  <a:pt x="181094" y="144463"/>
                  <a:pt x="185738" y="149106"/>
                  <a:pt x="185738" y="154781"/>
                </a:cubicBezTo>
                <a:lnTo>
                  <a:pt x="185738" y="175419"/>
                </a:lnTo>
                <a:cubicBezTo>
                  <a:pt x="185738" y="181094"/>
                  <a:pt x="181094" y="185738"/>
                  <a:pt x="175419" y="185738"/>
                </a:cubicBezTo>
                <a:lnTo>
                  <a:pt x="154781" y="185738"/>
                </a:lnTo>
                <a:cubicBezTo>
                  <a:pt x="149106" y="185738"/>
                  <a:pt x="144463" y="181094"/>
                  <a:pt x="144463" y="175419"/>
                </a:cubicBezTo>
                <a:lnTo>
                  <a:pt x="144463" y="154781"/>
                </a:lnTo>
                <a:cubicBezTo>
                  <a:pt x="144463" y="149106"/>
                  <a:pt x="149106" y="144463"/>
                  <a:pt x="154781" y="1444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08600" y="6515100"/>
            <a:ext cx="612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Biblioteca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26000" y="69850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Coordena todas as operações e delega as regras. Não calcula diretamente — apenas orquestra as chamadas entre as classes especializadas.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Entidades e Atributos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921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1524000" cy="381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8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Cartões CRC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5143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Classe, Responsabilidades e Colaborações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CRC — Classe Biblioteca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8890000" cy="5461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8890000" cy="5715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838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8382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Receber solicitação de empréstimo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Verificar elegibilidade do usuário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Consultar disponibilidade do item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Delegar cálculo de prazo à política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Criar e registrar empréstimo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Coordenar devoluções e reservas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33000" y="1397000"/>
            <a:ext cx="5461000" cy="5461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0" y="1397000"/>
            <a:ext cx="495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COLABORAÇÕES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0" y="2159000"/>
            <a:ext cx="4953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Usuario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ItemBiblioteca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Emprestimo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Reserva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PoliticaPrazo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PoliticaMulta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Notificador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Cartões CRC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CRC — Classe Emprestimo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8890000" cy="4445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8890000" cy="5715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838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8382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Registrar dados do empréstimo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Controlar status (ativo/finalizado)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Calcular multa via política ao devolver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Registrar data efetiva de devolução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33000" y="1397000"/>
            <a:ext cx="5461000" cy="4445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0" y="1397000"/>
            <a:ext cx="495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COLABORAÇÕES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0" y="2159000"/>
            <a:ext cx="4953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Usuario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ItemBiblioteca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PoliticaMulta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223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6223000"/>
            <a:ext cx="76200" cy="1651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64135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Papel da classe: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Emprestimo é uma classe de registro. Ela não toma decisões — apenas armazena os dados da transação e delega o cálculo de multa para PoliticaMulta.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Cartões CRC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CRC — Classe Reserva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8890000" cy="4445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8890000" cy="5715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838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8382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Adicionar usuário na fila de espera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Definir validade da reserva (ex: 24h)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Informar quem é o próximo da fila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Encerrar reserva ao expirar ou concluir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33000" y="1397000"/>
            <a:ext cx="5461000" cy="4445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0" y="1397000"/>
            <a:ext cx="495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COLABORAÇÕES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0" y="2159000"/>
            <a:ext cx="4953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Usuario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ItemBiblioteca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Notificador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223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6223000"/>
            <a:ext cx="76200" cy="1651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64135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Papel da classe: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Reserva gerencia a fila de espera por itens indisponíveis. Quando um item é devolvido, ela identifica o próximo usuário e aciona o Notificador para enviar o aviso de disponibilidade.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Cartões CRC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 Contra "Classe Deus"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C17F4E">
              <a:alpha val="1254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76200" cy="1270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15875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uma classe tem responsabilidades demais, divida.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Uma única classe que faz tudo torna o sistema rígido e difícil de manter.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3111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302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Biblioteca não deve calcular tudo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16000" y="3784600"/>
            <a:ext cx="6604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9370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Prazo e multa devem estar em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políticas separadas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(PoliticaPrazo e PoliticaMulta).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classe Biblioteca apenas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orquestra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chamadas, sem conhecer os detalhes das regras.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3111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3302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variáveis em componentes próprios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636000" y="3784600"/>
            <a:ext cx="6604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39370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Regras que mudam com frequência devem morar em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classes dedicadas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não espalhadas pelo código.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Assim, uma mudança de regra afeta apenas uma classe, não o sistema inteiro.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7048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7112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Princípio: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Cada classe deve ter uma única razão para mudar (Single Responsibility Principle)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Cartões CRC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921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1524000" cy="381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8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 por Mensagens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514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Quem chama quem no sistema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 — Empréstimo de Livro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CENÁRIO: Empréstimo de um livro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1590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0955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Usuario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solicita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Biblioteca.SolicitarEmprestimo(usuario, item)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47000" y="29845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62000" y="3302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4925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492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3429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chama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usuario.PodeEmprestar()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(verifica situação e limites)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47000" y="43180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4635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8260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826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47625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chama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item.EstaDisponivel()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(verifica status do material)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47000" y="56515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62000" y="5969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1595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159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78000" y="6096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chama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PoliticaPrazo.CalcularPrazo(usuario, item)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747000" y="69850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62000" y="7302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" y="74930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7493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78000" y="7493000"/>
            <a:ext cx="133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Biblioteca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cria →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C17F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Emprestimo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chama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C17F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item.MarcarEmprestado()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Fluxo por Mensagens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 — Devolução e Reserva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CENÁRIO: Devolução com notificação de reserva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1590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0955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chama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item.MarcarDisponivel()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(atualiza status do material)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47000" y="29845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62000" y="3302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4925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492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3429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chama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reserva.ProximoDaFila(item)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(identifica próximo usuário)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47000" y="43180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4635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8260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826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47625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chama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reserva.DefinirValidade(24h)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(define prazo de retirada)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47000" y="56515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62000" y="5969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1595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159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78000" y="6096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Biblioteca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chama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Notificador.Enviar(usuario, "Item disponível por 24h")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747000" y="6985000"/>
            <a:ext cx="0" cy="254000"/>
          </a:xfrm>
          <a:prstGeom prst="straightConnector1">
            <a:avLst/>
          </a:prstGeom>
          <a:noFill/>
          <a:ln w="25400">
            <a:solidFill>
              <a:srgbClr val="8A8178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62000" y="7302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C17F4E">
              <a:alpha val="12549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7302500"/>
            <a:ext cx="76200" cy="1016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7493000"/>
            <a:ext cx="558800" cy="558800"/>
          </a:xfrm>
          <a:prstGeom prst="ellipse">
            <a:avLst/>
          </a:prstGeom>
          <a:solidFill>
            <a:srgbClr val="C17F4E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7493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78000" y="74295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 expirar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17F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reserva.Encerrar()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 notificar próximo da fila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Fluxo por Mensagens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921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1524000" cy="381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8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Mudanças de Requisito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514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Adaptando o design a novas regras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Mudança 1 — Prazo Variável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C17F4E">
              <a:alpha val="1254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76200" cy="762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397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Nova regra: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prazo depende de (tipo de usuário + tipo de material + período letivo)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76500"/>
            <a:ext cx="46482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667000"/>
            <a:ext cx="4140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Onde essa regra deve ficar?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16000" y="3086100"/>
            <a:ext cx="41402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238500"/>
            <a:ext cx="4140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PoliticaPrazo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 classe já existe para isolar regras de prazo. É o local natural para a nova lógica.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91200" y="2476500"/>
            <a:ext cx="46482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3" name="Text 11"/>
          <p:cNvSpPr/>
          <p:nvPr/>
        </p:nvSpPr>
        <p:spPr>
          <a:xfrm>
            <a:off x="6045200" y="2667000"/>
            <a:ext cx="4140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Quais classes mudam?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45200" y="3086100"/>
            <a:ext cx="41402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5" name="Text 13"/>
          <p:cNvSpPr/>
          <p:nvPr/>
        </p:nvSpPr>
        <p:spPr>
          <a:xfrm>
            <a:off x="6045200" y="3238500"/>
            <a:ext cx="4140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PoliticaPrazo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recebe nova lógica. Possível criação de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PeriodoLetivo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como nova entidade.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33100" y="2476500"/>
            <a:ext cx="46609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7" name="Text 15"/>
          <p:cNvSpPr/>
          <p:nvPr/>
        </p:nvSpPr>
        <p:spPr>
          <a:xfrm>
            <a:off x="11087100" y="2667000"/>
            <a:ext cx="4152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novas?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087100" y="3086100"/>
            <a:ext cx="41529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9" name="Text 17"/>
          <p:cNvSpPr/>
          <p:nvPr/>
        </p:nvSpPr>
        <p:spPr>
          <a:xfrm>
            <a:off x="11087100" y="3238500"/>
            <a:ext cx="41529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PeriodoLetivo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pode surgir como entidade com dataInicio, dataFim e tipo (semestre/feriado).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14732000" cy="2794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524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Justificativa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" y="6007100"/>
            <a:ext cx="14224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1595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Criar/ajustar PoliticaPrazo para considerar período letivo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Biblioteca continua chamando a política (sem if/else gigante)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Adicionar novos prazos vira mudança na política, não no fluxo inteiro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Mudanças de Requisito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Mudança 2 — Multa com Teto e Bloqueio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C17F4E">
              <a:alpha val="1254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76200" cy="762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397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Nova regra: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multa tem teto por item e usuário é bloqueado ao ultrapassar valor acumulado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765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66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Onde essa regra deve ficar?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16000" y="3086100"/>
            <a:ext cx="6604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2385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PoliticaMulta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calcula a multa com teto por item.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Usuario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(ou RegraBloqueio) decide o bloqueio com base na multa acumulada.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24765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66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Como aplicar sem editar vários pontos?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36000" y="3086100"/>
            <a:ext cx="6604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2385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Devolução chama PoliticaMulta e depois delega para Usuario atualizar situação. O fluxo existente não muda.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334000"/>
            <a:ext cx="14732000" cy="2794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524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Justificativa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6007100"/>
            <a:ext cx="14224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1595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PoliticaMulta calcula a multa com teto — regra isolada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Usuario aplica multa e decide bloqueio — responsabilidade do domínio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Devolução chama política e delega — fluxo existente preservado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Mudanças de Requisito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921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1524000" cy="381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8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514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Entregáveis e qualidade do modelo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Entregáveis da Atividade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6200" cy="3175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7145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PARTE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1590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Entidades e Atributos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26670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Lista de classes com atributos completos. Mínimo 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classes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identificadas no domínio da biblioteca.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1524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1" name="Shape 9"/>
          <p:cNvSpPr/>
          <p:nvPr/>
        </p:nvSpPr>
        <p:spPr>
          <a:xfrm>
            <a:off x="8382000" y="1524000"/>
            <a:ext cx="76200" cy="3175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17145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PARTE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1590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Cartões CRC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99500" y="26670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Pelo menos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cartões CRC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completos com responsabilidades (verbos) e colaborações definidas.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080000"/>
            <a:ext cx="76200" cy="3175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52705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PARTE 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9500" y="57150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Fluxos por Mensagens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79500" y="62230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fluxos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completos: Empréstimo de livro e Devolução com notificação de reserva.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5080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2000" y="5080000"/>
            <a:ext cx="76200" cy="31750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52705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17F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PARTE 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99500" y="57150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Mudanças de Requisito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99500" y="62230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Respostas para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mudanças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 justificativa: Prazo variável e Multa com teto/bloqueio.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Conclusão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Checklist de Qualidade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4732000" cy="254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96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1778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Papel claro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cada classe tem um papel definido em uma única frase?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33655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36195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Regras isoladas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prazo, multa e limite estão em políticas/regras separadas?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5207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565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3" name="Text 11"/>
          <p:cNvSpPr/>
          <p:nvPr/>
        </p:nvSpPr>
        <p:spPr>
          <a:xfrm>
            <a:off x="1905000" y="5461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Colaboração entre objetos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 fluxo descreve troca de mensagens, não um algoritmo único?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2000" y="70485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749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16" name="Text 14"/>
          <p:cNvSpPr/>
          <p:nvPr/>
        </p:nvSpPr>
        <p:spPr>
          <a:xfrm>
            <a:off x="1905000" y="73025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Extensibilidade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dá para adicionar novo tipo de usuário/material mexendo em poucos lugares?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35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Conclusão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0480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2D4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588000" y="4127500"/>
            <a:ext cx="5080000" cy="25400"/>
          </a:xfrm>
          <a:prstGeom prst="rect">
            <a:avLst/>
          </a:prstGeom>
          <a:solidFill>
            <a:srgbClr val="C17F4E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4445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8A817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Modelagem Orientada a Objetos — Biblioteca da Faculdade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23200" y="546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68235"/>
                </a:moveTo>
                <a:lnTo>
                  <a:pt x="304800" y="536496"/>
                </a:lnTo>
                <a:lnTo>
                  <a:pt x="305395" y="536258"/>
                </a:lnTo>
                <a:cubicBezTo>
                  <a:pt x="370403" y="509230"/>
                  <a:pt x="440174" y="495300"/>
                  <a:pt x="510540" y="495300"/>
                </a:cubicBezTo>
                <a:lnTo>
                  <a:pt x="533400" y="495300"/>
                </a:lnTo>
                <a:lnTo>
                  <a:pt x="533400" y="114300"/>
                </a:lnTo>
                <a:lnTo>
                  <a:pt x="510540" y="114300"/>
                </a:lnTo>
                <a:cubicBezTo>
                  <a:pt x="460296" y="114300"/>
                  <a:pt x="410408" y="124301"/>
                  <a:pt x="363974" y="143589"/>
                </a:cubicBezTo>
                <a:cubicBezTo>
                  <a:pt x="343972" y="151924"/>
                  <a:pt x="324207" y="160139"/>
                  <a:pt x="304800" y="168235"/>
                </a:cubicBezTo>
                <a:close/>
                <a:moveTo>
                  <a:pt x="274915" y="73223"/>
                </a:moveTo>
                <a:lnTo>
                  <a:pt x="304800" y="85725"/>
                </a:lnTo>
                <a:lnTo>
                  <a:pt x="334685" y="73223"/>
                </a:lnTo>
                <a:cubicBezTo>
                  <a:pt x="390406" y="50006"/>
                  <a:pt x="450175" y="38100"/>
                  <a:pt x="51054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514350"/>
                </a:lnTo>
                <a:cubicBezTo>
                  <a:pt x="609600" y="545902"/>
                  <a:pt x="584002" y="571500"/>
                  <a:pt x="552450" y="571500"/>
                </a:cubicBezTo>
                <a:lnTo>
                  <a:pt x="510540" y="571500"/>
                </a:lnTo>
                <a:cubicBezTo>
                  <a:pt x="450175" y="571500"/>
                  <a:pt x="390406" y="583406"/>
                  <a:pt x="334685" y="606623"/>
                </a:cubicBezTo>
                <a:lnTo>
                  <a:pt x="319445" y="612934"/>
                </a:lnTo>
                <a:cubicBezTo>
                  <a:pt x="310039" y="616863"/>
                  <a:pt x="299561" y="616863"/>
                  <a:pt x="290155" y="612934"/>
                </a:cubicBezTo>
                <a:lnTo>
                  <a:pt x="274915" y="606623"/>
                </a:lnTo>
                <a:cubicBezTo>
                  <a:pt x="219194" y="583406"/>
                  <a:pt x="159425" y="571500"/>
                  <a:pt x="99060" y="571500"/>
                </a:cubicBezTo>
                <a:lnTo>
                  <a:pt x="57150" y="571500"/>
                </a:lnTo>
                <a:cubicBezTo>
                  <a:pt x="25598" y="571500"/>
                  <a:pt x="0" y="545902"/>
                  <a:pt x="0" y="514350"/>
                </a:cubicBezTo>
                <a:lnTo>
                  <a:pt x="0" y="95250"/>
                </a:lnTo>
                <a:cubicBezTo>
                  <a:pt x="0" y="63698"/>
                  <a:pt x="25598" y="38100"/>
                  <a:pt x="57150" y="38100"/>
                </a:cubicBezTo>
                <a:lnTo>
                  <a:pt x="99060" y="38100"/>
                </a:lnTo>
                <a:cubicBezTo>
                  <a:pt x="159425" y="38100"/>
                  <a:pt x="219194" y="50006"/>
                  <a:pt x="274915" y="73223"/>
                </a:cubicBezTo>
                <a:close/>
              </a:path>
            </a:pathLst>
          </a:custGeom>
          <a:solidFill>
            <a:srgbClr val="C17F4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17F4E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Orientada a Objetos - Biblioteca da Faculdade</dc:title>
  <dc:subject>Modelagem Orientada a Objetos - Biblioteca da Faculdade</dc:subject>
  <dc:creator>Kimi</dc:creator>
  <cp:lastModifiedBy>Kimi</cp:lastModifiedBy>
  <cp:revision>1</cp:revision>
  <dcterms:created xsi:type="dcterms:W3CDTF">2026-05-22T20:31:49Z</dcterms:created>
  <dcterms:modified xsi:type="dcterms:W3CDTF">2026-05-22T20:31:49Z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{"Label":"Modelagem Orientada a Objetos - Biblioteca da Faculdade","ContentProducer":"001191110108MACG2KBH8F10000","ProduceID":"19e515e4-aa12-859e-8000-000085926dd9","ReservedCode1":"","ContentPropagator":"001191110108MACG2KBH8F20000","PropagateID":"19e515e4-aa12-859e-8000-000085926dd9","ReservedCode2":""}</vt:lpwstr>
  </property>
</Properties>
</file>