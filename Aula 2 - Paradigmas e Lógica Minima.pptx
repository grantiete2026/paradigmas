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629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</a:t>
            </a:r>
            <a:endParaRPr lang="pt-BR" sz="36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de Paradigmas + Lógica Mínima 1</a:t>
            </a:r>
            <a:endParaRPr lang="pt-B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</a:t>
            </a:r>
            <a:r>
              <a:rPr lang="pt-BR" sz="18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como computador e justificar por teste de mesa</a:t>
            </a:r>
            <a:endParaRPr lang="pt-BR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7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Linguagem: </a:t>
            </a:r>
            <a:r>
              <a:rPr lang="pt-BR" sz="17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pseudocódigo (</a:t>
            </a:r>
            <a:r>
              <a:rPr lang="pt-BR" sz="1700" noProof="0" dirty="0" err="1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r>
              <a:rPr lang="pt-BR" sz="17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 |  Duração: 3h30</a:t>
            </a:r>
            <a:endParaRPr lang="pt-BR" sz="17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300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única — Noite completa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Reorganizamos?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1E30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heterogênea: precisamos de uma base comum</a:t>
            </a:r>
            <a:endParaRPr lang="pt-BR" sz="22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lógica mínima, os paradigmas viram apenas nomes vazios</a:t>
            </a:r>
            <a:endParaRPr lang="pt-BR" sz="22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Nivelamento primeiro: avanço consistente depois</a:t>
            </a:r>
            <a:endParaRPr lang="pt-BR" sz="2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Programar?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E8F0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400"/>
              </a:spcAft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ENTRADA</a:t>
            </a:r>
            <a:endParaRPr lang="pt-BR" sz="2800" noProof="0" dirty="0"/>
          </a:p>
          <a:p>
            <a:pPr>
              <a:spcAft>
                <a:spcPts val="1400"/>
              </a:spcAft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pt-BR" sz="24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 / Decisão</a:t>
            </a:r>
            <a:endParaRPr lang="pt-BR" sz="24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SAÍDA</a:t>
            </a:r>
            <a:endParaRPr lang="pt-BR" sz="28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2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28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800" noProof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programa, em qualquer paradigma, segue esse fluxo básico</a:t>
            </a:r>
            <a:endParaRPr lang="pt-BR" sz="28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— Visão Operacional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1E30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 = lente para organizar pensamento e código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1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que toda lente responde: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— o que o programa lembra?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— como o programa decide o que fazer?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— o que pode ser alterado durante à execução?</a:t>
            </a:r>
            <a:endParaRPr lang="pt-BR" sz="2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Paradigmas — Mapa do Território</a:t>
            </a:r>
            <a:endParaRPr lang="pt-BR" sz="26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475488" y="10698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</a:t>
            </a:r>
            <a:endParaRPr lang="pt-BR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comandos para o computador executar</a:t>
            </a:r>
            <a:endParaRPr lang="pt-B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3337560" y="96012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3337560" y="9601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3447288" y="10698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</a:t>
            </a:r>
            <a:endParaRPr lang="pt-BR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3447288" y="1554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 com sequência, seleção e repetição</a:t>
            </a:r>
            <a:endParaRPr lang="pt-BR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6419088" y="106984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</a:t>
            </a:r>
            <a:endParaRPr lang="pt-BR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6419088" y="155448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dados e comportamento em objetos</a:t>
            </a:r>
            <a:endParaRPr lang="pt-BR" sz="1300" noProof="0" dirty="0"/>
          </a:p>
        </p:txBody>
      </p:sp>
      <p:sp>
        <p:nvSpPr>
          <p:cNvPr id="18" name="Shape 16"/>
          <p:cNvSpPr/>
          <p:nvPr/>
        </p:nvSpPr>
        <p:spPr>
          <a:xfrm>
            <a:off x="365760" y="269748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475488" y="28072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pt-BR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475488" y="3291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puras, sem estado mutável</a:t>
            </a:r>
            <a:endParaRPr lang="pt-BR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3337560" y="269748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Shape 21"/>
          <p:cNvSpPr/>
          <p:nvPr/>
        </p:nvSpPr>
        <p:spPr>
          <a:xfrm>
            <a:off x="3337560" y="26974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2"/>
          <p:cNvSpPr/>
          <p:nvPr/>
        </p:nvSpPr>
        <p:spPr>
          <a:xfrm>
            <a:off x="3447288" y="28072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</a:t>
            </a:r>
            <a:endParaRPr lang="pt-BR" sz="1600" noProof="0" dirty="0"/>
          </a:p>
        </p:txBody>
      </p:sp>
      <p:sp>
        <p:nvSpPr>
          <p:cNvPr id="25" name="Text 23"/>
          <p:cNvSpPr/>
          <p:nvPr/>
        </p:nvSpPr>
        <p:spPr>
          <a:xfrm>
            <a:off x="3447288" y="3291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o quê, não o como (SQL, HTML)</a:t>
            </a:r>
            <a:endParaRPr lang="pt-BR" sz="1300" noProof="0" dirty="0"/>
          </a:p>
        </p:txBody>
      </p:sp>
      <p:sp>
        <p:nvSpPr>
          <p:cNvPr id="26" name="Shape 24"/>
          <p:cNvSpPr/>
          <p:nvPr/>
        </p:nvSpPr>
        <p:spPr>
          <a:xfrm>
            <a:off x="6309360" y="2697480"/>
            <a:ext cx="2651760" cy="1463040"/>
          </a:xfrm>
          <a:prstGeom prst="rect">
            <a:avLst/>
          </a:prstGeom>
          <a:solidFill>
            <a:srgbClr val="1A3560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Shape 25"/>
          <p:cNvSpPr/>
          <p:nvPr/>
        </p:nvSpPr>
        <p:spPr>
          <a:xfrm>
            <a:off x="6309360" y="26974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Text 26"/>
          <p:cNvSpPr/>
          <p:nvPr/>
        </p:nvSpPr>
        <p:spPr>
          <a:xfrm>
            <a:off x="6419088" y="280720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600" b="1" noProof="0" dirty="0" err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Multiparadigma</a:t>
            </a:r>
            <a:endParaRPr lang="pt-BR" sz="1600" noProof="0" dirty="0"/>
          </a:p>
        </p:txBody>
      </p:sp>
      <p:sp>
        <p:nvSpPr>
          <p:cNvPr id="29" name="Text 27"/>
          <p:cNvSpPr/>
          <p:nvPr/>
        </p:nvSpPr>
        <p:spPr>
          <a:xfrm>
            <a:off x="6419088" y="3291840"/>
            <a:ext cx="24323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múltiplas abordagens (Python, JS)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do Curso — A partir de hoje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E8F0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 visão geral dos paradigmas + Lógica Mínima 1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aulas:  imperativo e estruturado (base sólida)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 OO e funcional como escolhas conscientes</a:t>
            </a:r>
            <a:endParaRPr lang="pt-BR" sz="21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2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1800" noProof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paradigma será apresentado como uma ferramenta — não como "o certo"</a:t>
            </a:r>
            <a:endParaRPr lang="pt-BR" sz="2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Mínima 1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1E30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tipos  (inteiro, real, texto, lógico)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/ saída  —  leia( )   escreva( )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aritméticos:  +  -  *  /  %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relacionais:  =  &lt;  &gt;  &lt;=  &gt;=  &lt;&gt;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lógicos:  E   OU   NAO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— seleção condicional</a:t>
            </a:r>
            <a:endParaRPr lang="pt-BR" sz="2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Relacionais e Lógicos — Exemplos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E8F0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400"/>
              </a:spcAft>
              <a:buNone/>
            </a:pPr>
            <a:r>
              <a:rPr lang="pt-BR" sz="19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 simples: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2100" noProof="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idade &gt;= 18     →   verdadeiro / falso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0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9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com operador lógico: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900" noProof="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(idade &gt;= 18) OU (</a:t>
            </a:r>
            <a:r>
              <a:rPr lang="pt-BR" sz="1900" noProof="0" dirty="0" err="1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temAutorizacao</a:t>
            </a:r>
            <a:r>
              <a:rPr lang="pt-BR" sz="1900" noProof="0" dirty="0">
                <a:solidFill>
                  <a:srgbClr val="007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verdadeiro)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0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19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2000" b="1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PERMITIDO ou NEGADO</a:t>
            </a:r>
            <a:endParaRPr lang="pt-BR" sz="1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— Estrutura em </a:t>
            </a:r>
            <a:r>
              <a:rPr lang="pt-BR" sz="2800" b="1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077A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pt-BR" sz="1800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Condicional Simples</a:t>
            </a:r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(</a:t>
            </a:r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condicao</a:t>
            </a:r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pt-BR" noProof="0" dirty="0"/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faça algo ...</a:t>
            </a:r>
            <a:endParaRPr lang="pt-BR" noProof="0" dirty="0"/>
          </a:p>
          <a:p>
            <a:pPr lvl="1"/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senao</a:t>
            </a:r>
            <a:endParaRPr lang="pt-BR" noProof="0" dirty="0"/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faça outra coisa ...</a:t>
            </a:r>
            <a:endParaRPr lang="pt-BR" noProof="0" dirty="0"/>
          </a:p>
          <a:p>
            <a:pPr marL="0" indent="0">
              <a:buNone/>
            </a:pPr>
            <a:endParaRPr lang="pt-BR" noProof="0" dirty="0">
              <a:solidFill>
                <a:srgbClr val="00B4D8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pt-BR" noProof="0" dirty="0">
                <a:solidFill>
                  <a:srgbClr val="00B4D8"/>
                </a:solidFill>
                <a:latin typeface="Consolas" pitchFamily="34" charset="0"/>
              </a:rPr>
              <a:t>Condicional </a:t>
            </a:r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</a:rPr>
              <a:t>Multiplo</a:t>
            </a:r>
            <a:endParaRPr lang="pt-BR" noProof="0" dirty="0">
              <a:solidFill>
                <a:srgbClr val="00B4D8"/>
              </a:solidFill>
              <a:latin typeface="Consolas" pitchFamily="34" charset="0"/>
            </a:endParaRPr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(</a:t>
            </a:r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condicao</a:t>
            </a:r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pt-BR" noProof="0" dirty="0"/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faça algo ...</a:t>
            </a:r>
            <a:endParaRPr lang="pt-BR" noProof="0" dirty="0"/>
          </a:p>
          <a:p>
            <a:pPr lvl="1"/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senao</a:t>
            </a:r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 (</a:t>
            </a:r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condicao</a:t>
            </a:r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pt-BR" noProof="0" dirty="0"/>
          </a:p>
          <a:p>
            <a:pPr lvl="1"/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faça outra coisa ...</a:t>
            </a:r>
          </a:p>
          <a:p>
            <a:pPr lvl="1"/>
            <a:r>
              <a:rPr lang="pt-BR" noProof="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senao</a:t>
            </a:r>
            <a:endParaRPr lang="pt-BR" dirty="0"/>
          </a:p>
          <a:p>
            <a:pPr lvl="1"/>
            <a:r>
              <a:rPr lang="pt-BR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pt-BR" noProof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faça outra coisa ...</a:t>
            </a:r>
            <a:endParaRPr lang="pt-BR" noProof="0" dirty="0"/>
          </a:p>
          <a:p>
            <a:pPr marL="0" indent="0">
              <a:buNone/>
            </a:pPr>
            <a:endParaRPr lang="pt-BR" noProof="0" dirty="0">
              <a:solidFill>
                <a:srgbClr val="00B4D8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pt-BR" noProof="0" dirty="0">
              <a:solidFill>
                <a:srgbClr val="00B4D8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pt-BR" noProof="0" dirty="0">
              <a:solidFill>
                <a:srgbClr val="00B4D8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pt-BR" sz="1800" noProof="0" dirty="0">
              <a:solidFill>
                <a:srgbClr val="00B4D8"/>
              </a:solidFill>
              <a:latin typeface="Consolas" pitchFamily="34" charset="0"/>
            </a:endParaRPr>
          </a:p>
          <a:p>
            <a:pPr marL="0" indent="0">
              <a:buNone/>
            </a:pPr>
            <a:endParaRPr lang="pt-BR" sz="18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Mesa — Modelo</a:t>
            </a:r>
            <a:endParaRPr lang="pt-BR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700" i="1" noProof="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rastrear variáveis e decisões passo a passo</a:t>
            </a:r>
            <a:endParaRPr lang="pt-BR" sz="170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054533"/>
              </p:ext>
            </p:extLst>
          </p:nvPr>
        </p:nvGraphicFramePr>
        <p:xfrm>
          <a:off x="365760" y="1371600"/>
          <a:ext cx="8412480" cy="29718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/ Linha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Variáveis relevantes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/ Decisão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leia(idade)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idade = 20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(idade &gt;= 18)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&gt;= 18 → verdadeiro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no SE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escreva('PERMITIDO')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'PERMITIDO' exibido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encerrado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Grupos (3 alunos)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1E305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problema diferente por grupo  (A à J)</a:t>
            </a:r>
            <a:endParaRPr lang="pt-BR" sz="20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Entregar: pseudocódigo em </a:t>
            </a:r>
            <a:r>
              <a:rPr lang="pt-BR" sz="20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Portugol</a:t>
            </a: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+ 2 testes de mesa com entradas distintas</a:t>
            </a:r>
            <a:endParaRPr lang="pt-BR" sz="20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Apresentação: rodar o teste de mesa no quadro para a turma </a:t>
            </a:r>
            <a:endParaRPr lang="pt-BR" sz="20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b="1" noProof="0" dirty="0">
                <a:solidFill>
                  <a:srgbClr val="CC3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laços — ainda não vimos repetição!</a:t>
            </a:r>
            <a:endParaRPr lang="pt-BR" sz="20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obrigatoriamente IF/ELSE e ao menos 1 operador lógico (E / OU / NAO)</a:t>
            </a:r>
            <a:endParaRPr lang="pt-BR" sz="2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005840" y="201168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Sucesso (Rubrica 10 </a:t>
            </a:r>
            <a:r>
              <a:rPr lang="pt-BR" sz="2800" b="1" noProof="0" dirty="0" err="1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r>
              <a:rPr lang="pt-BR" sz="2800" b="1" noProof="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pt-BR" sz="28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4023360"/>
          </a:xfrm>
          <a:prstGeom prst="rect">
            <a:avLst/>
          </a:prstGeom>
          <a:solidFill>
            <a:srgbClr val="E8F0F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955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pt-BR" sz="2100" b="1" noProof="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r>
              <a:rPr lang="pt-BR" sz="2100" b="1" noProof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Lógica correta (condições certas e saídas corretas)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pt-BR" sz="2100" noProof="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Pseudocódigo claro e padronizado</a:t>
            </a:r>
            <a:endParaRPr lang="pt-BR" sz="2100" noProof="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pt-BR" sz="2100" noProof="0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r>
              <a:rPr lang="pt-BR" sz="21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Teste de mesa coerente (passo a passo bate com o código)</a:t>
            </a:r>
            <a:endParaRPr lang="pt-BR" sz="21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000" noProof="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pt-BR" sz="2100" noProof="0" dirty="0"/>
          </a:p>
          <a:p>
            <a:pPr marL="0" indent="0">
              <a:spcAft>
                <a:spcPts val="1400"/>
              </a:spcAft>
              <a:buNone/>
            </a:pPr>
            <a:r>
              <a:rPr lang="pt-BR" sz="1800" noProof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passo: imperativo/estruturado com repetição (laços)</a:t>
            </a:r>
            <a:endParaRPr lang="pt-BR" sz="2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601</Words>
  <Application>Microsoft Office PowerPoint</Application>
  <PresentationFormat>Apresentação na tela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Paradigmas de Programação — Lógica Mínima 1</dc:title>
  <dc:subject>PptxGenJS Presentation</dc:subject>
  <dc:creator>PptxGenJS</dc:creator>
  <cp:lastModifiedBy>Office</cp:lastModifiedBy>
  <cp:revision>6</cp:revision>
  <dcterms:created xsi:type="dcterms:W3CDTF">2026-02-20T19:31:44Z</dcterms:created>
  <dcterms:modified xsi:type="dcterms:W3CDTF">2026-02-20T20:23:28Z</dcterms:modified>
</cp:coreProperties>
</file>