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29" r:id="rId2"/>
    <p:sldId id="389" r:id="rId3"/>
    <p:sldId id="388" r:id="rId4"/>
    <p:sldId id="375" r:id="rId5"/>
    <p:sldId id="376" r:id="rId6"/>
    <p:sldId id="377" r:id="rId7"/>
    <p:sldId id="378" r:id="rId8"/>
    <p:sldId id="379" r:id="rId9"/>
    <p:sldId id="380" r:id="rId10"/>
    <p:sldId id="381" r:id="rId11"/>
    <p:sldId id="382" r:id="rId12"/>
    <p:sldId id="383" r:id="rId13"/>
    <p:sldId id="384" r:id="rId14"/>
    <p:sldId id="385" r:id="rId15"/>
    <p:sldId id="386" r:id="rId16"/>
    <p:sldId id="38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9" autoAdjust="0"/>
    <p:restoredTop sz="94660"/>
  </p:normalViewPr>
  <p:slideViewPr>
    <p:cSldViewPr snapToGrid="0">
      <p:cViewPr varScale="1">
        <p:scale>
          <a:sx n="78" d="100"/>
          <a:sy n="78" d="100"/>
        </p:scale>
        <p:origin x="65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28826-808A-481F-BB1B-1594532BDA86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6F3B0-2119-4336-A6EC-742F8534E4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6584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28826-808A-481F-BB1B-1594532BDA86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6F3B0-2119-4336-A6EC-742F8534E4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7160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28826-808A-481F-BB1B-1594532BDA86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6F3B0-2119-4336-A6EC-742F8534E4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7678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28826-808A-481F-BB1B-1594532BDA86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6F3B0-2119-4336-A6EC-742F8534E4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2281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28826-808A-481F-BB1B-1594532BDA86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6F3B0-2119-4336-A6EC-742F8534E4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6100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28826-808A-481F-BB1B-1594532BDA86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6F3B0-2119-4336-A6EC-742F8534E4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2681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28826-808A-481F-BB1B-1594532BDA86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6F3B0-2119-4336-A6EC-742F8534E4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4548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28826-808A-481F-BB1B-1594532BDA86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6F3B0-2119-4336-A6EC-742F8534E4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6059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28826-808A-481F-BB1B-1594532BDA86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6F3B0-2119-4336-A6EC-742F8534E4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129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28826-808A-481F-BB1B-1594532BDA86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6F3B0-2119-4336-A6EC-742F8534E4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603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28826-808A-481F-BB1B-1594532BDA86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6F3B0-2119-4336-A6EC-742F8534E4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0597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D828826-808A-481F-BB1B-1594532BDA86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9536F3B0-2119-4336-A6EC-742F8534E4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15001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BAD41E4-D6CB-A6DA-B02C-04A5B5692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sz="5400" b="1" dirty="0"/>
              <a:t>Paradigmas de Programação</a:t>
            </a:r>
            <a:br>
              <a:rPr lang="pt-BR" sz="6600" dirty="0"/>
            </a:br>
            <a:r>
              <a:rPr lang="pt-BR" sz="2800" dirty="0"/>
              <a:t>Paradigma como lente: como pensar, construir e manter software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4D7D5EA-33FC-14BA-1320-3A308F01E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4983276"/>
            <a:ext cx="10512552" cy="112668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Prof. Me. José Antonio Gallo Junior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20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732176-5033-3E56-B9C4-D4BBECF56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Abertura e contrato de trabalho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03D090-C83E-12F4-ECB8-8D5750F13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Aulas teóricas</a:t>
            </a:r>
          </a:p>
          <a:p>
            <a:r>
              <a:rPr lang="pt-BR" dirty="0"/>
              <a:t>Aulas práticas</a:t>
            </a:r>
          </a:p>
          <a:p>
            <a:r>
              <a:rPr lang="pt-BR" dirty="0"/>
              <a:t>Atividades rápidas</a:t>
            </a:r>
          </a:p>
          <a:p>
            <a:r>
              <a:rPr lang="pt-BR" dirty="0"/>
              <a:t>Atividades individuais e em grupo</a:t>
            </a:r>
          </a:p>
          <a:p>
            <a:endParaRPr lang="pt-BR" dirty="0"/>
          </a:p>
          <a:p>
            <a:r>
              <a:rPr lang="pt-BR" dirty="0"/>
              <a:t>Prova teórico/prática – Nota 6</a:t>
            </a:r>
          </a:p>
          <a:p>
            <a:r>
              <a:rPr lang="pt-BR" dirty="0"/>
              <a:t>Trabalhos – Nota 3</a:t>
            </a:r>
          </a:p>
          <a:p>
            <a:r>
              <a:rPr lang="pt-BR" dirty="0"/>
              <a:t>Presença – Nota 1</a:t>
            </a:r>
          </a:p>
        </p:txBody>
      </p:sp>
    </p:spTree>
    <p:extLst>
      <p:ext uri="{BB962C8B-B14F-4D97-AF65-F5344CB8AC3E}">
        <p14:creationId xmlns:p14="http://schemas.microsoft.com/office/powerpoint/2010/main" val="2675573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151135-A1CB-4C98-B372-407586D7C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Pergunta disparadora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623B22-15E0-ADA1-EA33-D93B32FF3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pt-BR" sz="4400" dirty="0"/>
          </a:p>
          <a:p>
            <a:pPr marL="0" indent="0" algn="ctr">
              <a:buNone/>
            </a:pPr>
            <a:endParaRPr lang="pt-BR" sz="4400" dirty="0"/>
          </a:p>
          <a:p>
            <a:pPr marL="0" indent="0" algn="ctr">
              <a:buNone/>
            </a:pPr>
            <a:r>
              <a:rPr lang="pt-BR" sz="4400" dirty="0"/>
              <a:t>“O que deixa um software caro: escrever ou manter?”</a:t>
            </a:r>
          </a:p>
        </p:txBody>
      </p:sp>
    </p:spTree>
    <p:extLst>
      <p:ext uri="{BB962C8B-B14F-4D97-AF65-F5344CB8AC3E}">
        <p14:creationId xmlns:p14="http://schemas.microsoft.com/office/powerpoint/2010/main" val="3924470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F9ED97-EE64-AB34-96B4-FE00AEDD8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Por que isso importa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00305B-E493-D859-7E90-89ABD769B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Escrever código é a parte barata. </a:t>
            </a:r>
            <a:r>
              <a:rPr lang="pt-BR" b="1" dirty="0"/>
              <a:t>Manter e mudar </a:t>
            </a:r>
            <a:r>
              <a:rPr lang="pt-BR" dirty="0"/>
              <a:t>é o custo real.</a:t>
            </a:r>
          </a:p>
          <a:p>
            <a:r>
              <a:rPr lang="pt-BR" b="1" dirty="0"/>
              <a:t>Paradigma influencia</a:t>
            </a:r>
            <a:r>
              <a:rPr lang="pt-BR" dirty="0"/>
              <a:t>: bugs, legibilidade, testabilidade, evolução.</a:t>
            </a:r>
          </a:p>
          <a:p>
            <a:r>
              <a:rPr lang="pt-BR" dirty="0"/>
              <a:t>A pergunta do semestre: </a:t>
            </a:r>
            <a:r>
              <a:rPr lang="pt-BR" b="1" dirty="0"/>
              <a:t>qual mudança você precisa tornar barata?</a:t>
            </a:r>
          </a:p>
          <a:p>
            <a:pPr marL="0" indent="0">
              <a:buNone/>
            </a:pPr>
            <a:endParaRPr lang="pt-BR" b="1" dirty="0"/>
          </a:p>
          <a:p>
            <a:pPr marL="0" indent="0" algn="ctr">
              <a:buNone/>
            </a:pPr>
            <a:r>
              <a:rPr lang="pt-BR" dirty="0"/>
              <a:t>“Qual é mais caro: criar do zero ou mudar depois?”</a:t>
            </a:r>
          </a:p>
          <a:p>
            <a:pPr marL="0" indent="0">
              <a:buNone/>
            </a:pP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54454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21625A-922C-888A-97C3-71894AF88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Objetivos de aprendizagem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7843A2-3C0C-B591-6FC3-7F79B1793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Definir paradigma de forma operacional.</a:t>
            </a:r>
          </a:p>
          <a:p>
            <a:r>
              <a:rPr lang="pt-BR" dirty="0"/>
              <a:t>Identificar </a:t>
            </a:r>
            <a:r>
              <a:rPr lang="pt-BR" b="1" dirty="0"/>
              <a:t>estado, mutação e efeitos colaterais.</a:t>
            </a:r>
          </a:p>
          <a:p>
            <a:r>
              <a:rPr lang="pt-BR" dirty="0"/>
              <a:t>Diferenciar </a:t>
            </a:r>
            <a:r>
              <a:rPr lang="pt-BR" b="1" dirty="0"/>
              <a:t>imperativo</a:t>
            </a:r>
            <a:r>
              <a:rPr lang="pt-BR" dirty="0"/>
              <a:t> </a:t>
            </a:r>
            <a:r>
              <a:rPr lang="pt-BR" b="1" dirty="0" err="1"/>
              <a:t>vs</a:t>
            </a:r>
            <a:r>
              <a:rPr lang="pt-BR" dirty="0"/>
              <a:t> </a:t>
            </a:r>
            <a:r>
              <a:rPr lang="pt-BR" b="1" dirty="0"/>
              <a:t>declarativo</a:t>
            </a:r>
            <a:r>
              <a:rPr lang="pt-BR" dirty="0"/>
              <a:t> com exemplos.</a:t>
            </a:r>
          </a:p>
          <a:p>
            <a:r>
              <a:rPr lang="pt-BR" dirty="0"/>
              <a:t>Resolver e comparar o mesmo problema em dois estilos.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 algn="ctr">
              <a:buNone/>
            </a:pPr>
            <a:r>
              <a:rPr lang="pt-BR" dirty="0"/>
              <a:t>“Você não precisa ‘decorar’. Precisa aprender a diagnosticar.”</a:t>
            </a:r>
          </a:p>
        </p:txBody>
      </p:sp>
    </p:spTree>
    <p:extLst>
      <p:ext uri="{BB962C8B-B14F-4D97-AF65-F5344CB8AC3E}">
        <p14:creationId xmlns:p14="http://schemas.microsoft.com/office/powerpoint/2010/main" val="2697074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4DE1C8-61DE-C1E7-A3A8-4C6F78950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Mapa do curso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327256-A7DC-9878-4B1C-785A62650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/>
              <a:t>Linha do tempo:</a:t>
            </a:r>
          </a:p>
          <a:p>
            <a:r>
              <a:rPr lang="pt-BR" dirty="0"/>
              <a:t>Imperativo → Estruturada → OO → Funcional → </a:t>
            </a:r>
            <a:r>
              <a:rPr lang="pt-BR" dirty="0" err="1"/>
              <a:t>Multiparadigma</a:t>
            </a: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b="1" dirty="0"/>
              <a:t>Onde vamos chegar:</a:t>
            </a:r>
          </a:p>
          <a:p>
            <a:r>
              <a:rPr lang="pt-BR" dirty="0"/>
              <a:t>Escolher paradigma por </a:t>
            </a:r>
            <a:r>
              <a:rPr lang="pt-BR" b="1" dirty="0"/>
              <a:t>trade-off</a:t>
            </a:r>
            <a:r>
              <a:rPr lang="pt-BR" dirty="0"/>
              <a:t>, não por preferência.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 algn="ctr">
              <a:buNone/>
            </a:pPr>
            <a:r>
              <a:rPr lang="pt-BR" dirty="0"/>
              <a:t>“O profissional forte é bilíngue/multilíngue de paradigmas.”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6698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583FF9-6893-8ED7-8D84-EAE4AFC3D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 que é “paradigma”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FF5881-E032-F81C-B4D2-C482EFC46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/>
              <a:t>Definição</a:t>
            </a:r>
            <a:r>
              <a:rPr lang="pt-BR" dirty="0"/>
              <a:t>:</a:t>
            </a:r>
          </a:p>
          <a:p>
            <a:pPr marL="0" indent="0">
              <a:buNone/>
            </a:pPr>
            <a:r>
              <a:rPr lang="pt-BR" b="1" dirty="0"/>
              <a:t>Paradigma</a:t>
            </a:r>
            <a:r>
              <a:rPr lang="pt-BR" dirty="0"/>
              <a:t> = conjunto coerente de princípios que orienta:</a:t>
            </a:r>
          </a:p>
          <a:p>
            <a:r>
              <a:rPr lang="pt-BR" dirty="0"/>
              <a:t>como você representa dados,</a:t>
            </a:r>
          </a:p>
          <a:p>
            <a:r>
              <a:rPr lang="pt-BR" dirty="0"/>
              <a:t>como descreve comportamento,</a:t>
            </a:r>
          </a:p>
          <a:p>
            <a:r>
              <a:rPr lang="pt-BR" dirty="0"/>
              <a:t>como controla complexidade,</a:t>
            </a:r>
          </a:p>
          <a:p>
            <a:r>
              <a:rPr lang="pt-BR" dirty="0"/>
              <a:t>como lida com mudança e erros.</a:t>
            </a:r>
          </a:p>
          <a:p>
            <a:endParaRPr lang="pt-BR" dirty="0"/>
          </a:p>
          <a:p>
            <a:pPr marL="0" indent="0" algn="ctr">
              <a:buNone/>
            </a:pPr>
            <a:r>
              <a:rPr lang="pt-BR" dirty="0"/>
              <a:t>“Paradigma é a arquitetura do pensamento do programador.”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77427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4AE89F-5E48-3D31-D9A1-93FD8B8E2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Três perguntas que revelam o paradigma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116743-C6CE-24B4-9BF7-765F1BCC4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b="1" dirty="0"/>
              <a:t>Onde está o estado? </a:t>
            </a:r>
            <a:r>
              <a:rPr lang="pt-BR" dirty="0"/>
              <a:t>(o que muda?)</a:t>
            </a:r>
          </a:p>
          <a:p>
            <a:pPr marL="514350" indent="-514350">
              <a:buFont typeface="+mj-lt"/>
              <a:buAutoNum type="arabicPeriod"/>
            </a:pPr>
            <a:r>
              <a:rPr lang="pt-BR" b="1" dirty="0"/>
              <a:t>Quem manda no fluxo? </a:t>
            </a:r>
            <a:r>
              <a:rPr lang="pt-BR" dirty="0"/>
              <a:t>(passo a passo? regras? transformações?)</a:t>
            </a:r>
          </a:p>
          <a:p>
            <a:pPr marL="514350" indent="-514350">
              <a:buFont typeface="+mj-lt"/>
              <a:buAutoNum type="arabicPeriod"/>
            </a:pPr>
            <a:r>
              <a:rPr lang="pt-BR" b="1" dirty="0"/>
              <a:t>Como a mudança entra? </a:t>
            </a:r>
            <a:r>
              <a:rPr lang="pt-BR" dirty="0"/>
              <a:t>(</a:t>
            </a:r>
            <a:r>
              <a:rPr lang="pt-BR" dirty="0" err="1"/>
              <a:t>if</a:t>
            </a:r>
            <a:r>
              <a:rPr lang="pt-BR" dirty="0"/>
              <a:t>/</a:t>
            </a:r>
            <a:r>
              <a:rPr lang="pt-BR" dirty="0" err="1"/>
              <a:t>else</a:t>
            </a:r>
            <a:r>
              <a:rPr lang="pt-BR" dirty="0"/>
              <a:t>? herança? funções? composição?)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 algn="ctr">
              <a:buNone/>
            </a:pPr>
            <a:r>
              <a:rPr lang="pt-BR" dirty="0"/>
              <a:t>“Se você responder essas 3, você ‘enxerga’ o paradigma em qualquer linguagem.”</a:t>
            </a:r>
          </a:p>
        </p:txBody>
      </p:sp>
    </p:spTree>
    <p:extLst>
      <p:ext uri="{BB962C8B-B14F-4D97-AF65-F5344CB8AC3E}">
        <p14:creationId xmlns:p14="http://schemas.microsoft.com/office/powerpoint/2010/main" val="4286441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A4DDB9-E16D-D1B6-6EDA-8E6ACB4CB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Imperativo em 30 segundos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AB3066-8F8C-209C-7D65-F8E7EE779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b="1" dirty="0"/>
              <a:t>Ideia</a:t>
            </a:r>
            <a:r>
              <a:rPr lang="pt-BR" dirty="0"/>
              <a:t>: você descreve como fazer (passos + controle + mutação).</a:t>
            </a:r>
          </a:p>
          <a:p>
            <a:pPr marL="0" indent="0">
              <a:buNone/>
            </a:pPr>
            <a:r>
              <a:rPr lang="pt-BR" b="1" dirty="0"/>
              <a:t>Marcas comuns</a:t>
            </a:r>
            <a:r>
              <a:rPr lang="pt-BR" dirty="0"/>
              <a:t>: variáveis mudando, loops, condicionais, estado explícito.</a:t>
            </a:r>
          </a:p>
          <a:p>
            <a:pPr marL="0" indent="0">
              <a:buNone/>
            </a:pPr>
            <a:r>
              <a:rPr lang="pt-BR" b="1" dirty="0"/>
              <a:t>Quando brilha:</a:t>
            </a:r>
          </a:p>
          <a:p>
            <a:r>
              <a:rPr lang="pt-BR" dirty="0"/>
              <a:t>Controle fino, performance local, depuração passo a passo.</a:t>
            </a:r>
          </a:p>
          <a:p>
            <a:pPr marL="0" indent="0">
              <a:buNone/>
            </a:pPr>
            <a:r>
              <a:rPr lang="pt-BR" b="1" dirty="0"/>
              <a:t>Quando dói:</a:t>
            </a:r>
          </a:p>
          <a:p>
            <a:r>
              <a:rPr lang="pt-BR" dirty="0"/>
              <a:t>Estado espalhado, efeito colateral invisível, “teia” de </a:t>
            </a:r>
            <a:r>
              <a:rPr lang="pt-BR" dirty="0" err="1"/>
              <a:t>if</a:t>
            </a:r>
            <a:r>
              <a:rPr lang="pt-BR" dirty="0"/>
              <a:t>/</a:t>
            </a:r>
            <a:r>
              <a:rPr lang="pt-BR" dirty="0" err="1"/>
              <a:t>else</a:t>
            </a:r>
            <a:r>
              <a:rPr lang="pt-BR" dirty="0"/>
              <a:t>.</a:t>
            </a:r>
          </a:p>
          <a:p>
            <a:endParaRPr lang="pt-BR" dirty="0"/>
          </a:p>
          <a:p>
            <a:pPr marL="0" indent="0" algn="ctr">
              <a:buNone/>
            </a:pPr>
            <a:r>
              <a:rPr lang="pt-BR" dirty="0"/>
              <a:t>“Imperativo é ótimo… até a complexidade virar dívida.”</a:t>
            </a:r>
          </a:p>
        </p:txBody>
      </p:sp>
    </p:spTree>
    <p:extLst>
      <p:ext uri="{BB962C8B-B14F-4D97-AF65-F5344CB8AC3E}">
        <p14:creationId xmlns:p14="http://schemas.microsoft.com/office/powerpoint/2010/main" val="102718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6299DE-249B-3232-E522-B24D390C4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Declarativo/Funcional em 30 segundos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EB996D-5AB3-56B1-EEEB-9B28CA5B7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/>
              <a:t>Ideia</a:t>
            </a:r>
            <a:r>
              <a:rPr lang="pt-BR" dirty="0"/>
              <a:t>: você descreve o que quer obter (transformações).</a:t>
            </a:r>
          </a:p>
          <a:p>
            <a:pPr marL="0" indent="0">
              <a:buNone/>
            </a:pPr>
            <a:r>
              <a:rPr lang="pt-BR" b="1" dirty="0"/>
              <a:t>Marcas comuns: </a:t>
            </a:r>
            <a:r>
              <a:rPr lang="pt-BR" dirty="0" err="1"/>
              <a:t>filter</a:t>
            </a:r>
            <a:r>
              <a:rPr lang="pt-BR" dirty="0"/>
              <a:t>/</a:t>
            </a:r>
            <a:r>
              <a:rPr lang="pt-BR" dirty="0" err="1"/>
              <a:t>map</a:t>
            </a:r>
            <a:r>
              <a:rPr lang="pt-BR" dirty="0"/>
              <a:t>/</a:t>
            </a:r>
            <a:r>
              <a:rPr lang="pt-BR" dirty="0" err="1"/>
              <a:t>reduce</a:t>
            </a:r>
            <a:r>
              <a:rPr lang="pt-BR" dirty="0"/>
              <a:t>, pipelines, menos mutação.</a:t>
            </a:r>
          </a:p>
          <a:p>
            <a:pPr marL="0" indent="0">
              <a:buNone/>
            </a:pPr>
            <a:r>
              <a:rPr lang="pt-BR" b="1" dirty="0"/>
              <a:t>Quando brilha:</a:t>
            </a:r>
          </a:p>
          <a:p>
            <a:r>
              <a:rPr lang="pt-BR" dirty="0"/>
              <a:t>Transformação de dados, previsibilidade, composição.</a:t>
            </a:r>
          </a:p>
          <a:p>
            <a:pPr marL="0" indent="0">
              <a:buNone/>
            </a:pPr>
            <a:r>
              <a:rPr lang="pt-BR" b="1" dirty="0"/>
              <a:t>Quando dói:</a:t>
            </a:r>
          </a:p>
          <a:p>
            <a:r>
              <a:rPr lang="pt-BR" dirty="0"/>
              <a:t>Abstração demais sem domínio; depuração muda de estilo.</a:t>
            </a:r>
          </a:p>
          <a:p>
            <a:pPr marL="0" indent="0">
              <a:buNone/>
            </a:pPr>
            <a:endParaRPr lang="pt-BR" dirty="0"/>
          </a:p>
          <a:p>
            <a:pPr marL="0" indent="0" algn="ctr">
              <a:buNone/>
            </a:pPr>
            <a:r>
              <a:rPr lang="pt-BR" dirty="0"/>
              <a:t>“Aqui o foco é intenção. Você lê o resultado primeiro.”</a:t>
            </a:r>
          </a:p>
        </p:txBody>
      </p:sp>
    </p:spTree>
    <p:extLst>
      <p:ext uri="{BB962C8B-B14F-4D97-AF65-F5344CB8AC3E}">
        <p14:creationId xmlns:p14="http://schemas.microsoft.com/office/powerpoint/2010/main" val="3991602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371F4F-A5DD-99E6-F2F8-491321C5E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2000" cy="1325563"/>
          </a:xfrm>
        </p:spPr>
        <p:txBody>
          <a:bodyPr/>
          <a:lstStyle/>
          <a:p>
            <a:r>
              <a:rPr lang="pt-BR" b="1" dirty="0"/>
              <a:t>Problema-base (mesmo problema, 2 estilos)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34CC5C-286F-2EFB-D5BC-14F83581F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/>
              <a:t>Entrada</a:t>
            </a:r>
            <a:r>
              <a:rPr lang="pt-BR" dirty="0"/>
              <a:t>: lista de números (ex.: 3, 10, 2, 8, 1)</a:t>
            </a:r>
          </a:p>
          <a:p>
            <a:pPr marL="0" indent="0">
              <a:buNone/>
            </a:pPr>
            <a:r>
              <a:rPr lang="pt-BR" b="1" dirty="0"/>
              <a:t>Tarefa</a:t>
            </a:r>
            <a:r>
              <a:rPr lang="pt-BR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manter pares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elevar ao quadrado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somar tudo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retornar resultado</a:t>
            </a:r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r>
              <a:rPr lang="pt-BR" b="1" dirty="0"/>
              <a:t>Saída esperada (para o exemplo):</a:t>
            </a:r>
            <a:r>
              <a:rPr lang="pt-BR" dirty="0"/>
              <a:t> 10² + 2² + 8² = 100 + 4 + 64 = 168</a:t>
            </a:r>
          </a:p>
        </p:txBody>
      </p:sp>
    </p:spTree>
    <p:extLst>
      <p:ext uri="{BB962C8B-B14F-4D97-AF65-F5344CB8AC3E}">
        <p14:creationId xmlns:p14="http://schemas.microsoft.com/office/powerpoint/2010/main" val="3708553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AAF1B3-01A7-FB94-5F40-4B7F2C323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Solução imperativa (pseudocódigo)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F924E4-987E-C06A-9332-333513C60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3200" dirty="0">
                <a:solidFill>
                  <a:srgbClr val="00B050"/>
                </a:solidFill>
                <a:latin typeface="Consolas" panose="020B0609020204030204" pitchFamily="49" charset="0"/>
              </a:rPr>
              <a:t>soma = </a:t>
            </a:r>
            <a:r>
              <a:rPr lang="pt-BR" sz="32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</a:p>
          <a:p>
            <a:pPr marL="0" indent="0">
              <a:buNone/>
            </a:pPr>
            <a:r>
              <a:rPr lang="pt-BR" sz="3200" dirty="0">
                <a:solidFill>
                  <a:srgbClr val="FF0000"/>
                </a:solidFill>
                <a:latin typeface="Consolas" panose="020B0609020204030204" pitchFamily="49" charset="0"/>
              </a:rPr>
              <a:t>para cada n em </a:t>
            </a:r>
            <a:r>
              <a:rPr lang="pt-BR" sz="3200" dirty="0" err="1">
                <a:solidFill>
                  <a:srgbClr val="FF0000"/>
                </a:solidFill>
                <a:latin typeface="Consolas" panose="020B0609020204030204" pitchFamily="49" charset="0"/>
              </a:rPr>
              <a:t>numeros</a:t>
            </a:r>
            <a:r>
              <a:rPr lang="pt-BR" sz="3200" dirty="0">
                <a:solidFill>
                  <a:srgbClr val="FF0000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pt-BR" sz="3200" dirty="0">
                <a:latin typeface="Consolas" panose="020B0609020204030204" pitchFamily="49" charset="0"/>
              </a:rPr>
              <a:t>  </a:t>
            </a:r>
            <a:r>
              <a:rPr lang="pt-BR" sz="3200" dirty="0">
                <a:solidFill>
                  <a:srgbClr val="00B050"/>
                </a:solidFill>
                <a:latin typeface="Consolas" panose="020B0609020204030204" pitchFamily="49" charset="0"/>
              </a:rPr>
              <a:t>se n é </a:t>
            </a:r>
            <a:r>
              <a:rPr lang="pt-BR" sz="3200" dirty="0">
                <a:solidFill>
                  <a:srgbClr val="FF0000"/>
                </a:solidFill>
                <a:latin typeface="Consolas" panose="020B0609020204030204" pitchFamily="49" charset="0"/>
              </a:rPr>
              <a:t>par:</a:t>
            </a:r>
          </a:p>
          <a:p>
            <a:pPr marL="0" indent="0">
              <a:buNone/>
            </a:pPr>
            <a:r>
              <a:rPr lang="pt-BR" sz="3200" dirty="0">
                <a:latin typeface="Consolas" panose="020B0609020204030204" pitchFamily="49" charset="0"/>
              </a:rPr>
              <a:t>    </a:t>
            </a:r>
            <a:r>
              <a:rPr lang="pt-BR" sz="3200" dirty="0">
                <a:solidFill>
                  <a:srgbClr val="00B050"/>
                </a:solidFill>
                <a:latin typeface="Consolas" panose="020B0609020204030204" pitchFamily="49" charset="0"/>
              </a:rPr>
              <a:t>soma = soma + (n*n)</a:t>
            </a:r>
          </a:p>
          <a:p>
            <a:pPr marL="0" indent="0">
              <a:buNone/>
            </a:pPr>
            <a:r>
              <a:rPr lang="pt-BR" sz="3200" dirty="0">
                <a:solidFill>
                  <a:srgbClr val="00B050"/>
                </a:solidFill>
                <a:latin typeface="Consolas" panose="020B0609020204030204" pitchFamily="49" charset="0"/>
              </a:rPr>
              <a:t>retorne soma</a:t>
            </a:r>
          </a:p>
          <a:p>
            <a:pPr marL="0" indent="0">
              <a:buNone/>
            </a:pPr>
            <a:endParaRPr lang="pt-BR" sz="32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pt-BR" sz="3200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002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B6A17-3D60-B8BE-B675-6FD29198F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Solução declarativa (pseudocódigo)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C70F78-BE99-42B9-F17C-D72E08852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3200" dirty="0">
                <a:latin typeface="Consolas" panose="020B0609020204030204" pitchFamily="49" charset="0"/>
              </a:rPr>
              <a:t>resultado = </a:t>
            </a:r>
            <a:r>
              <a:rPr lang="pt-BR" sz="3200" dirty="0" err="1">
                <a:latin typeface="Consolas" panose="020B0609020204030204" pitchFamily="49" charset="0"/>
              </a:rPr>
              <a:t>numeros</a:t>
            </a:r>
            <a:endParaRPr lang="pt-BR" sz="32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3200" dirty="0">
                <a:latin typeface="Consolas" panose="020B0609020204030204" pitchFamily="49" charset="0"/>
              </a:rPr>
              <a:t>  -&gt; filtrar pares</a:t>
            </a:r>
          </a:p>
          <a:p>
            <a:pPr marL="0" indent="0">
              <a:buNone/>
            </a:pPr>
            <a:r>
              <a:rPr lang="pt-BR" sz="3200" dirty="0">
                <a:latin typeface="Consolas" panose="020B0609020204030204" pitchFamily="49" charset="0"/>
              </a:rPr>
              <a:t>  -&gt; mapear quadrado</a:t>
            </a:r>
          </a:p>
          <a:p>
            <a:pPr marL="0" indent="0">
              <a:buNone/>
            </a:pPr>
            <a:r>
              <a:rPr lang="pt-BR" sz="3200" dirty="0">
                <a:latin typeface="Consolas" panose="020B0609020204030204" pitchFamily="49" charset="0"/>
              </a:rPr>
              <a:t>  -&gt; reduzir somando</a:t>
            </a:r>
          </a:p>
          <a:p>
            <a:pPr marL="0" indent="0">
              <a:buNone/>
            </a:pPr>
            <a:r>
              <a:rPr lang="pt-BR" sz="3200" dirty="0">
                <a:latin typeface="Consolas" panose="020B0609020204030204" pitchFamily="49" charset="0"/>
              </a:rPr>
              <a:t>retorne resultado</a:t>
            </a:r>
          </a:p>
          <a:p>
            <a:pPr marL="0" indent="0">
              <a:buNone/>
            </a:pPr>
            <a:endParaRPr lang="pt-BR" sz="3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469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D81A0B-D228-B68E-925C-B1445AB3D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Vocabulário que você precisa dominar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2BEE81-D286-696E-3282-1FC8E66C4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Estado</a:t>
            </a:r>
            <a:r>
              <a:rPr lang="pt-BR" dirty="0"/>
              <a:t>: informação que pode mudar na execução</a:t>
            </a:r>
          </a:p>
          <a:p>
            <a:r>
              <a:rPr lang="pt-BR" b="1" dirty="0"/>
              <a:t>Mutação</a:t>
            </a:r>
            <a:r>
              <a:rPr lang="pt-BR" dirty="0"/>
              <a:t>: alterar um valor/dado existente</a:t>
            </a:r>
          </a:p>
          <a:p>
            <a:r>
              <a:rPr lang="pt-BR" b="1" dirty="0"/>
              <a:t>Efeito colateral: </a:t>
            </a:r>
            <a:r>
              <a:rPr lang="pt-BR" dirty="0"/>
              <a:t>mudança fora do retorno (I/O, global, objeto compartilhado)</a:t>
            </a:r>
          </a:p>
          <a:p>
            <a:r>
              <a:rPr lang="pt-BR" b="1" dirty="0"/>
              <a:t>Função pura: </a:t>
            </a:r>
            <a:r>
              <a:rPr lang="pt-BR" dirty="0"/>
              <a:t>mesma entrada → mesma saída; sem colaterais</a:t>
            </a:r>
          </a:p>
          <a:p>
            <a:r>
              <a:rPr lang="pt-BR" b="1" dirty="0"/>
              <a:t>Abstração</a:t>
            </a:r>
            <a:r>
              <a:rPr lang="pt-BR" dirty="0"/>
              <a:t>: esconder detalhes para reduzir complexidade (com cuidado)</a:t>
            </a:r>
          </a:p>
        </p:txBody>
      </p:sp>
    </p:spTree>
    <p:extLst>
      <p:ext uri="{BB962C8B-B14F-4D97-AF65-F5344CB8AC3E}">
        <p14:creationId xmlns:p14="http://schemas.microsoft.com/office/powerpoint/2010/main" val="822915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A5B6B6-D1CE-BB9B-BC53-074CBAE0D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Atividade em grupo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7D022D-6286-03B0-3721-99288B1BD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/>
              <a:t>Entregável (1 página):</a:t>
            </a:r>
          </a:p>
          <a:p>
            <a:r>
              <a:rPr lang="pt-BR" dirty="0"/>
              <a:t>Duas soluções (imperativa e declarativa)</a:t>
            </a:r>
          </a:p>
          <a:p>
            <a:r>
              <a:rPr lang="pt-BR" dirty="0"/>
              <a:t>Marcar: estado, mutação, colaterais</a:t>
            </a:r>
          </a:p>
          <a:p>
            <a:r>
              <a:rPr lang="pt-BR" dirty="0"/>
              <a:t>Comparar: o que muda ao adicionar 2 novas regras</a:t>
            </a:r>
          </a:p>
          <a:p>
            <a:pPr marL="0" indent="0">
              <a:buNone/>
            </a:pPr>
            <a:r>
              <a:rPr lang="pt-BR" b="1" dirty="0"/>
              <a:t>Regras novas: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ignorar negativos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também contar quantos pares entraram no cálculo</a:t>
            </a:r>
          </a:p>
        </p:txBody>
      </p:sp>
    </p:spTree>
    <p:extLst>
      <p:ext uri="{BB962C8B-B14F-4D97-AF65-F5344CB8AC3E}">
        <p14:creationId xmlns:p14="http://schemas.microsoft.com/office/powerpoint/2010/main" val="2383920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782733-3640-B424-D641-C6CFA2FBE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Fechamento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86422A-083E-1D04-99BA-460A498DF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Paradigma é lente, não dogma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Estado/fluxo/mudança revelam o estilo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Imperativo = controle; Declarativo = intenção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Evitar surpresa (colaterais) melhora manutenção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Objetivo real: </a:t>
            </a:r>
            <a:r>
              <a:rPr lang="pt-BR" b="1" dirty="0"/>
              <a:t>mudança barata</a:t>
            </a:r>
          </a:p>
        </p:txBody>
      </p:sp>
    </p:spTree>
    <p:extLst>
      <p:ext uri="{BB962C8B-B14F-4D97-AF65-F5344CB8AC3E}">
        <p14:creationId xmlns:p14="http://schemas.microsoft.com/office/powerpoint/2010/main" val="989083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669</TotalTime>
  <Words>709</Words>
  <Application>Microsoft Office PowerPoint</Application>
  <PresentationFormat>Widescreen</PresentationFormat>
  <Paragraphs>115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Consolas</vt:lpstr>
      <vt:lpstr>Office Theme</vt:lpstr>
      <vt:lpstr>Paradigmas de Programação Paradigma como lente: como pensar, construir e manter software</vt:lpstr>
      <vt:lpstr>Abertura e contrato de trabalho</vt:lpstr>
      <vt:lpstr>Pergunta disparadora</vt:lpstr>
      <vt:lpstr>Por que isso importa</vt:lpstr>
      <vt:lpstr>Objetivos de aprendizagem</vt:lpstr>
      <vt:lpstr>Mapa do curso</vt:lpstr>
      <vt:lpstr>O que é “paradigma”</vt:lpstr>
      <vt:lpstr>Três perguntas que revelam o paradigma</vt:lpstr>
      <vt:lpstr>Imperativo em 30 segundos</vt:lpstr>
      <vt:lpstr>Declarativo/Funcional em 30 segundos</vt:lpstr>
      <vt:lpstr>Problema-base (mesmo problema, 2 estilos)</vt:lpstr>
      <vt:lpstr>Solução imperativa (pseudocódigo)</vt:lpstr>
      <vt:lpstr>Solução declarativa (pseudocódigo)</vt:lpstr>
      <vt:lpstr>Vocabulário que você precisa dominar</vt:lpstr>
      <vt:lpstr>Atividade em grupo</vt:lpstr>
      <vt:lpstr>Fechamento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73</cp:revision>
  <dcterms:created xsi:type="dcterms:W3CDTF">2025-06-14T12:55:02Z</dcterms:created>
  <dcterms:modified xsi:type="dcterms:W3CDTF">2026-02-13T22:28:19Z</dcterms:modified>
</cp:coreProperties>
</file>