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6256000" cy="9144000"/>
  <p:notesSz cx="9144000" cy="16256000"/>
  <p:embeddedFontLst>
    <p:embeddedFont>
      <p:font typeface="Quattrocento Sans" charset="-122" pitchFamily="34"/>
      <p:regular r:id="rId31"/>
    </p:embeddedFont>
    <p:embeddedFont>
      <p:font typeface="Liter" charset="-122" pitchFamily="34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Relationship Id="rId3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3556000"/>
            <a:ext cx="508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286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PARADIGMA ORIENTADO A OBJETOS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8000" y="3937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Fundamentos, exemplos práticos e exercícios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5334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Faculdade GranTietê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0" y="5842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Prof. Me. José Antonio Gallo Junior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7112000"/>
            <a:ext cx="2540000" cy="38100"/>
          </a:xfrm>
          <a:prstGeom prst="rect">
            <a:avLst/>
          </a:prstGeom>
          <a:solidFill>
            <a:srgbClr val="1B4D7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CONTEÚDO DA APOSTILA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2500" y="1714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22860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 que Orientação a Objetos?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3111500"/>
            <a:ext cx="311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dor do código procedural e a solução que o OO oferece.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8500" y="1524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9000" y="1714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99000" y="22860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Vocabulário Essencial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9000" y="3111500"/>
            <a:ext cx="311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Classe, Objeto, Atributo, Método, Estado e Mensagem.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1524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5500" y="1714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5500" y="22860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 4 Pilares do OO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45500" y="3111500"/>
            <a:ext cx="311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Encapsulamento, Abstração, Herança e Polimorfismo.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01500" y="1524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192000" y="1714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92000" y="22860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Relações entre Classes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92000" y="3111500"/>
            <a:ext cx="311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Associação, Agregação e Composição.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28900" y="4826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19400" y="5016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9400" y="55880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Herança e Polimorfismo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19400" y="6413500"/>
            <a:ext cx="3111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Reutilização e eliminação do if/else.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75400" y="4826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65900" y="5016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65900" y="55880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Interfaces e Abstração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65900" y="6413500"/>
            <a:ext cx="3111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Contratos e especialização no OO.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121900" y="4826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312400" y="5016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312400" y="55880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 Prática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12400" y="6413500"/>
            <a:ext cx="311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de caixa, erros comuns e glossário.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191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 que Orientação a Objetos?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016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dor do código procedural e a solução que o OO oferece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Dor Clássica do Código Procedural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 programação procedural, novas regras trazem cascatas de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if/else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Cada novo tipo de regra vira mais código em vários pontos do sistema.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14732000" cy="381000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 w="12700">
            <a:solidFill>
              <a:srgbClr val="5A7D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2222500"/>
            <a:ext cx="50800" cy="38100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349500"/>
            <a:ext cx="1422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Procedural crescendo sem controle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 tipoPagamento == "cartao":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 parcelado: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 parcelas &lt;= 3: taxa = 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senao: taxa = 2.5%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senao: aplicar desconto(5%)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senao se tipoPagamento == "pix":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aplicar desconto(10%)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senao se tipoPagamento == "boleto":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mais regras...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6350000"/>
            <a:ext cx="14732000" cy="20320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95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587500" y="635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7500" y="6794500"/>
            <a:ext cx="1358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Cada novo tipo de regra vira mais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if/else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 vários pontos do código. O resultado é um sistema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difícil de entender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difícil de testar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fácil de quebrar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qualquer mudança pode afetar comportamentos inesperados.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Ideia Central do OO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143000"/>
          </a:xfrm>
          <a:prstGeom prst="roundRect">
            <a:avLst>
              <a:gd name="adj" fmla="val 5000"/>
            </a:avLst>
          </a:prstGeom>
          <a:solidFill>
            <a:srgbClr val="1B4D72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397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OO organiza o programa como uma coleção de objetos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guardam dados (estado) e sabem executar ações (comportamento), colaborando entre si para resolver o problema.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794000"/>
          <a:ext cx="14732000" cy="5334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63803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Programação Procedural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Orientação a Objetos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</a:tr>
              <a:tr h="11739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Dados vs Comportamento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Dados em estruturas separadas do comportamento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Dados e comportamento juntos no mesmo objeto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39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Funções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Funções "soltas" que operam sobre dados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Métodos que pertencem ao objeto e conhecem seu estado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1739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Mudanças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Frequentemente exigem alterar vários lugares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Mudanças são localizadas — nova classe ou novo método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39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Reutilização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 cópia de código (duplicação)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 herança e composição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191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Vocabulário Essencial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016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Classe, Objeto, Atributo, Método, Estado e Mensagem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 é o Molde, Objeto é a Construção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 (Molde)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classe é 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molde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 plano que define como um tipo de objeto deve ser: quais dados ele terá e quais ações poderá executar.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6858000" cy="304800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3048000"/>
            <a:ext cx="50800" cy="30480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175000"/>
            <a:ext cx="635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Classe = planta da casa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ContaBancaria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atributo titular: texto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atributo saldo: real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atributo agencia: inteiro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depositar(valor)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sacar(valor)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consultarSaldo()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1397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Objeto / Instância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382000" y="1905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 objeto é uma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coisa concreta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criada a partir da classe. Ele existe na memória e tem valores específicos nos seus atributos.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3048000"/>
            <a:ext cx="7112000" cy="292100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2000" y="3048000"/>
            <a:ext cx="50800" cy="292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31750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Objetos = casas construídas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contaAna = nova ContaBancaria(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titular="Ana", saldo=1500)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contaBruno = nova ContaBancaria(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titular="Bruno", saldo=800)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contaAna.consultarSaldo()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1500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contaBruno.consultarSaldo()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800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969000"/>
            <a:ext cx="14732000" cy="215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300" y="6794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6510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51000" y="6667500"/>
            <a:ext cx="1358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Planta arquitetônica de uma casa (ainda não existe na memória)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Objeto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Casa construída a partir da planta (existe na memória, tem valores reais)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Atributo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Características da casa (cor, m²) → saldo = 1500.00, titular = "Ana"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Atributo, Método, Estado e Mensagem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6731000"/>
        </p:xfrm>
        <a:graphic>
          <a:graphicData uri="http://schemas.openxmlformats.org/drawingml/2006/table">
            <a:tbl>
              <a:tblPr/>
              <a:tblGrid>
                <a:gridCol w="2651760"/>
                <a:gridCol w="5156200"/>
                <a:gridCol w="6924040"/>
              </a:tblGrid>
              <a:tr h="6756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Termo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Exemplo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</a:tr>
              <a:tr h="121107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Atributo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Dado guardado dentro do objeto — parte do seu estado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saldo, nome, preço, quantidade, dataDeNascimento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107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Método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Função que pertence à classe. Representa uma ação que o objeto sabe executar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depositar(), sacar(), calcularMedia(), temEstoque()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21107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Estado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Conjunto de valores atuais dos atributos de um objeto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 começa com saldo=1000. Após sacar(300), saldo vira 700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107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Mensagem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Quando um objeto chama um método de outro (ou de si mesmo)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carrinho.calcularSubtotal() — carrinho se manda uma mensagem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21107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Molde que define atributos e métodos de um tipo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 Aluno → atributos: nome, matrícula, nota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191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 4 Pilares do OO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016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Encapsulamento, Abstração, Herança e Polimorfismo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Encapsulamento — Proteger o Estado Interno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Encapsular significa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proteger o estado interno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 um objeto e controlar como ele pode ser lido ou alterado.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 que encapsular?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685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Evita que qualquer parte do programa mexa em dados críticos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Centraliza validações e regras em um único lugar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Reduz bugs causados por "atalhos"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Permite mudar a implementação interna sem afetar quem usa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01000" y="2032000"/>
            <a:ext cx="7493000" cy="266700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2032000"/>
            <a:ext cx="50800" cy="26670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9" name="Text 7"/>
          <p:cNvSpPr/>
          <p:nvPr/>
        </p:nvSpPr>
        <p:spPr>
          <a:xfrm>
            <a:off x="8255000" y="2159000"/>
            <a:ext cx="6985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Regra: saldo não pode ficar negativo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ContaBancaria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atributo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privado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saldo: real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sacar(valor):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 valor &gt; saldo: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erro("Saldo insuficiente")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saldo = saldo - valor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8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 vs Com Encapsulamento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34000"/>
          <a:ext cx="14732000" cy="2921000"/>
        </p:xfrm>
        <a:graphic>
          <a:graphicData uri="http://schemas.openxmlformats.org/drawingml/2006/table">
            <a:tbl>
              <a:tblPr/>
              <a:tblGrid>
                <a:gridCol w="7366000"/>
                <a:gridCol w="73660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Sem Encapsulamento ❌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 Encapsulamento ✅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conta.saldo = conta.saldo - 500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conta.sacar(500)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Regra de validação espalhada pelo código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Regra centralizada no método sacar()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Mudança na regra = alterar vários lugares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Mudança na regra = alterar apenas o método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Abstração — O que Mostrar e o que Esconder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4100" y="165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50800" y="76200"/>
                </a:moveTo>
                <a:lnTo>
                  <a:pt x="50800" y="266700"/>
                </a:lnTo>
                <a:lnTo>
                  <a:pt x="406400" y="266700"/>
                </a:lnTo>
                <a:lnTo>
                  <a:pt x="406400" y="76200"/>
                </a:lnTo>
                <a:lnTo>
                  <a:pt x="50800" y="76200"/>
                </a:lnTo>
                <a:close/>
                <a:moveTo>
                  <a:pt x="0" y="76200"/>
                </a:moveTo>
                <a:cubicBezTo>
                  <a:pt x="0" y="48181"/>
                  <a:pt x="22781" y="25400"/>
                  <a:pt x="50800" y="25400"/>
                </a:cubicBezTo>
                <a:lnTo>
                  <a:pt x="406400" y="25400"/>
                </a:lnTo>
                <a:cubicBezTo>
                  <a:pt x="434419" y="25400"/>
                  <a:pt x="457200" y="48181"/>
                  <a:pt x="457200" y="76200"/>
                </a:cubicBezTo>
                <a:lnTo>
                  <a:pt x="457200" y="266700"/>
                </a:lnTo>
                <a:cubicBezTo>
                  <a:pt x="457200" y="294719"/>
                  <a:pt x="434419" y="317500"/>
                  <a:pt x="406400" y="317500"/>
                </a:cubicBezTo>
                <a:lnTo>
                  <a:pt x="50800" y="317500"/>
                </a:lnTo>
                <a:cubicBezTo>
                  <a:pt x="22781" y="317500"/>
                  <a:pt x="0" y="294719"/>
                  <a:pt x="0" y="266700"/>
                </a:cubicBezTo>
                <a:lnTo>
                  <a:pt x="0" y="76200"/>
                </a:lnTo>
                <a:close/>
                <a:moveTo>
                  <a:pt x="127000" y="355600"/>
                </a:moveTo>
                <a:lnTo>
                  <a:pt x="330200" y="355600"/>
                </a:lnTo>
                <a:cubicBezTo>
                  <a:pt x="344249" y="355600"/>
                  <a:pt x="355600" y="366951"/>
                  <a:pt x="355600" y="381000"/>
                </a:cubicBezTo>
                <a:cubicBezTo>
                  <a:pt x="355600" y="395049"/>
                  <a:pt x="344249" y="406400"/>
                  <a:pt x="330200" y="406400"/>
                </a:cubicBezTo>
                <a:lnTo>
                  <a:pt x="127000" y="406400"/>
                </a:lnTo>
                <a:cubicBezTo>
                  <a:pt x="112951" y="406400"/>
                  <a:pt x="101600" y="395049"/>
                  <a:pt x="101600" y="381000"/>
                </a:cubicBezTo>
                <a:cubicBezTo>
                  <a:pt x="101600" y="366951"/>
                  <a:pt x="112951" y="355600"/>
                  <a:pt x="127000" y="3556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460500"/>
            <a:ext cx="1358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Analogia do Controle Remoto: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Você não precisa saber como uma TV processa sinais digitais, converte frequências e acende pixels. Você só precisa saber: apertar o botão "+" aumenta o volume.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 OO, você não precisa saber como o Carrinho guarda itens internamente para usar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carrinho.calcularTotal()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Exemplo: Motor de Busca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3746500"/>
            <a:ext cx="14732000" cy="196850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746500"/>
            <a:ext cx="50800" cy="19685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873500"/>
            <a:ext cx="1422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Quem usa não precisa saber como funciona internamente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resultado = buscador.pesquisar("programação OO")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Internamente pode: normalizar texto, consultar índices, calcular relevância, ordenar, paginar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Tudo isso está escondido. O usuário só vê o resultado.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032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Abstração vs Encapsulamento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604000"/>
          <a:ext cx="14732000" cy="1905000"/>
        </p:xfrm>
        <a:graphic>
          <a:graphicData uri="http://schemas.openxmlformats.org/drawingml/2006/table">
            <a:tbl>
              <a:tblPr/>
              <a:tblGrid>
                <a:gridCol w="7366000"/>
                <a:gridCol w="7366000"/>
              </a:tblGrid>
              <a:tr h="37847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Abstração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Encapsulamento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</a:tr>
              <a:tr h="51725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 que expor da interface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Como proteger o estado interno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25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Decisão de design: "o que é relevante?"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Mecanismo: controle de acesso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202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"Você só precisa saber que existe calcularTotal()"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"Você não pode acessar o array interno itens"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Responsabilidade Única — O Coração da Modelagem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B4D72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397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Princípio da Responsabilidade Única (SRP):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Uma classe deve ter apenas uma razão para mudar. Se você identifica duas razões diferentes, ela está fazendo coisas demais.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❌ Classe Deus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75000"/>
            <a:ext cx="6858000" cy="36830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3302000"/>
            <a:ext cx="635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SistemaDeVendas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lerDadosDoArquivo()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I/O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calcularDesconto()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Regra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imprimirCupom()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UI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salvarNoBanco()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BD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validarCPF()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Validação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enviarEmail()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Notificação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calcularFrete()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Regra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7+ razões para mudar!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66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Responsabilidades Separadas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175000"/>
            <a:ext cx="7112000" cy="36830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6000" y="3302000"/>
            <a:ext cx="660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LeitorDePedidos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Só lê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CalculadoraDesconto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Só calcula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ImpressoraCupom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Só imprime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RepositorioPedidos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Só salva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ValidadorCPF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Só valida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NotificadorEmail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Só envia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CalculadoraFrete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Só calcula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Cada classe: 1 razão para mudar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7175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Heurísticas: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Mais de 200-300 linhas = provavelmente grande demais. Não consegue resumir em uma frase curta? Mistura coisas. Mudar regra X exige mexer em classe "não relacionada"? Responsabilidade errada.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191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Relações entre Classes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016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Associação, Agregação e Composição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Associação, Agregação e Composição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4572000"/>
        </p:xfrm>
        <a:graphic>
          <a:graphicData uri="http://schemas.openxmlformats.org/drawingml/2006/table">
            <a:tbl>
              <a:tblPr/>
              <a:tblGrid>
                <a:gridCol w="2651760"/>
                <a:gridCol w="4419600"/>
                <a:gridCol w="7660640"/>
              </a:tblGrid>
              <a:tr h="54762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Tipo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Característica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Exemplo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</a:tr>
              <a:tr h="100609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Associação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Conhece o outro; ambos independentes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Pedido "conhece" um Cliente. Cliente pode existir sem Pedido.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609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Agregação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"Tem-um"; parte sobrevive sem o todo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Turma "tem" Alunos. Se Turma é encerrada, Alunos continuam existindo.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00609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Composição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"Tem-um"; parte depende do todo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Carrinho "tem" ItensCarrinho. Se Carrinho é destruído, Itens também são.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609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Dependência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Usa temporariamente (parâmetro)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Caixa usa Carrinho no método fecharCompra(carrinho)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Representação Visual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62000" y="685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5A7D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2000" y="685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Pedido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02000" y="7239000"/>
            <a:ext cx="1016000" cy="0"/>
          </a:xfrm>
          <a:prstGeom prst="straightConnector1">
            <a:avLst/>
          </a:prstGeom>
          <a:noFill/>
          <a:ln w="25400">
            <a:solidFill>
              <a:srgbClr val="5A7D9A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318000" y="685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5A7D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18000" y="685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75000" y="7683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associação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74000" y="685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1B4D72"/>
          </a:solidFill>
          <a:ln/>
        </p:spPr>
      </p:sp>
      <p:sp>
        <p:nvSpPr>
          <p:cNvPr id="13" name="Text 10"/>
          <p:cNvSpPr/>
          <p:nvPr/>
        </p:nvSpPr>
        <p:spPr>
          <a:xfrm>
            <a:off x="7874000" y="685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Carrinho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414000" y="7239000"/>
            <a:ext cx="1016000" cy="0"/>
          </a:xfrm>
          <a:prstGeom prst="straightConnector1">
            <a:avLst/>
          </a:prstGeom>
          <a:noFill/>
          <a:ln w="25400">
            <a:solidFill>
              <a:srgbClr val="1B4D72"/>
            </a:solidFill>
            <a:prstDash val="solid"/>
            <a:headEnd type="none"/>
            <a:tailEnd type="diamond"/>
          </a:ln>
        </p:spPr>
      </p:sp>
      <p:sp>
        <p:nvSpPr>
          <p:cNvPr id="15" name="Shape 12"/>
          <p:cNvSpPr/>
          <p:nvPr/>
        </p:nvSpPr>
        <p:spPr>
          <a:xfrm>
            <a:off x="11430000" y="685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1B4D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0" y="685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ItemCarrinho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287000" y="7683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composição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191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Herança e Polimorfismo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016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Reutilização de código e eliminação do if/else infinito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Herança — Quando uma Coisa é um Tipo de Outra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1B4D72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397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herança quando existe uma relação genuína de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"é-um tipo de"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Cachorro é um Animal ✅ | Motor é um Carro 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Hierarquia de Pagamentos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588000" y="3175000"/>
            <a:ext cx="5080000" cy="1016000"/>
          </a:xfrm>
          <a:prstGeom prst="roundRect">
            <a:avLst>
              <a:gd name="adj" fmla="val 8000"/>
            </a:avLst>
          </a:prstGeom>
          <a:solidFill>
            <a:srgbClr val="1B4D72"/>
          </a:solidFill>
          <a:ln/>
        </p:spPr>
      </p:sp>
      <p:sp>
        <p:nvSpPr>
          <p:cNvPr id="8" name="Text 6"/>
          <p:cNvSpPr/>
          <p:nvPr/>
        </p:nvSpPr>
        <p:spPr>
          <a:xfrm>
            <a:off x="5588000" y="3175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Pagamento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valor, data | processar(), calcularTaxa()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4191000"/>
            <a:ext cx="0" cy="508000"/>
          </a:xfrm>
          <a:prstGeom prst="straightConnector1">
            <a:avLst/>
          </a:prstGeom>
          <a:noFill/>
          <a:ln w="25400">
            <a:solidFill>
              <a:srgbClr val="5A7D9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98000" y="4191000"/>
            <a:ext cx="0" cy="508000"/>
          </a:xfrm>
          <a:prstGeom prst="straightConnector1">
            <a:avLst/>
          </a:prstGeom>
          <a:noFill/>
          <a:ln w="25400">
            <a:solidFill>
              <a:srgbClr val="5A7D9A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858000" y="4699000"/>
            <a:ext cx="2540000" cy="0"/>
          </a:xfrm>
          <a:prstGeom prst="straightConnector1">
            <a:avLst/>
          </a:prstGeom>
          <a:noFill/>
          <a:ln w="25400">
            <a:solidFill>
              <a:srgbClr val="5A7D9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810000" y="4953000"/>
            <a:ext cx="3556000" cy="10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1B4D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0000" y="4953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PagamentoCartao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numeroParcelas, bandeira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calcularTaxa(): 0 ou 2.5%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0" y="4953000"/>
            <a:ext cx="3556000" cy="10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1B4D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0" y="4953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PagamentoPix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chave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calcularTaxa(): 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4953000"/>
            <a:ext cx="3556000" cy="10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1B4D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0" y="4953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PagamentoBoleto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codigoDeBarras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calcularTaxa(): 3.50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350000"/>
            <a:ext cx="14732000" cy="17780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3950" y="6604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587500" y="654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Herança vs Composição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87500" y="69850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Prefira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composição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quando a relação não é realmente "é-um tipo de". Se você se pega dizendo "X herda de Y mas precisa mudar tudo de Y", provavelmente composição seria melhor.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Polimorfismo — A Solução para o if/else Infinito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❌ Sem Polimorfismo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6858000" cy="34290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032000"/>
            <a:ext cx="635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 tipoCupom == "CUPOM10":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retornar subtotal * 0.10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senao se tipoCupom == "CUPOM20":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retornar subtotal * 0.20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senao se tipoCupom == "BLACK_FRIDAY":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retornar subtotal * 0.50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senao: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retornar 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Toda nova regra = editar método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Com Polimorfismo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7112000" cy="31115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6000" y="2032000"/>
            <a:ext cx="6604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Interface RegraDesconto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calcular(subtotal, cupom)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RegraCupom10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RegraDesconto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RegraCupom20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RegraDesconto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RegraBlackFriday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RegraDesconto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Nova regra = nova classe, sem tocar Caixa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334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5334000"/>
            <a:ext cx="50800" cy="17780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5435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 Caixa (não muda nunca)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842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calcularDesconto(subtotal, cupom):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 cada regra em regras: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desconto += regra.calcular(subtotal, cupom)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Polimorfismo!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73025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9500" y="749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7366000"/>
            <a:ext cx="1358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Resultado: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Para adicionar um novo cupom "FIDELIDADE15", basta criar a classe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RegraFidelidade15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 adicioná-la à lista de regras.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Não é necessário modificar Caixa, Carrinho, nem qualquer outra classe existente.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191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Interfaces e Classes Abstratas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016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Contratos e especialização no OO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vs Classe Abstrata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— O Contrato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6858000" cy="266700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05000"/>
            <a:ext cx="50800" cy="26670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032000"/>
            <a:ext cx="635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Interface Notificador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enviar(dest, msg)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testarConexao()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NotificadorEmail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Notificador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NotificadorSMS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Notificador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NotificadorPush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Notificador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397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 Abstrata — Parcial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7112000" cy="304800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8382000" y="1905000"/>
            <a:ext cx="50800" cy="304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0320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Abstrata RelatorioBase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gerarCabecalho()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B4D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implementado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abstrato gerarCorpo()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obrigatório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metodo gerar():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retornar cabecalho + corpo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RelatorioVendas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herda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RelatorioBase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 RelatorioEstoque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herda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RelatorioBase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95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Quando usar cada uma?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651500"/>
          <a:ext cx="14732000" cy="2794000"/>
        </p:xfrm>
        <a:graphic>
          <a:graphicData uri="http://schemas.openxmlformats.org/drawingml/2006/table">
            <a:tbl>
              <a:tblPr/>
              <a:tblGrid>
                <a:gridCol w="7366000"/>
                <a:gridCol w="7366000"/>
              </a:tblGrid>
              <a:tr h="41720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Interface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 Abstrata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</a:tr>
              <a:tr h="78383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Só define contratos (sem implementação)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Pode ter partes implementadas e partes abstratas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383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Uma classe pode implementar várias interfaces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Uma classe só pode herdar uma classe abstrata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0912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para definir capacidades (Imprimível, Exportável)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quando há código comum a compartilhar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191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 Prática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016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completo de caixa e erros comuns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de Caixa — Procedural → OO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Requisitos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Carrinho com vários itens (nome + preço)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Subtotal = soma dos preços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Regras de desconto diferentes (por cupom)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Taxa de frete calculada sobre subtotal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Total = subtotal - descontos + frete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333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Classes do Modelo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778000"/>
            <a:ext cx="1651000" cy="635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1B4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0" y="1778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14000" y="1778000"/>
            <a:ext cx="1651000" cy="635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1B4D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14000" y="1778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Carrinho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46000" y="1778000"/>
            <a:ext cx="1651000" cy="635000"/>
          </a:xfrm>
          <a:prstGeom prst="roundRect">
            <a:avLst>
              <a:gd name="adj" fmla="val 8000"/>
            </a:avLst>
          </a:prstGeom>
          <a:solidFill>
            <a:srgbClr val="1B4D72"/>
          </a:solidFill>
          <a:ln/>
        </p:spPr>
      </p:sp>
      <p:sp>
        <p:nvSpPr>
          <p:cNvPr id="12" name="Text 10"/>
          <p:cNvSpPr/>
          <p:nvPr/>
        </p:nvSpPr>
        <p:spPr>
          <a:xfrm>
            <a:off x="12446000" y="1778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RegraDesconto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478000" y="1778000"/>
            <a:ext cx="1651000" cy="635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1B4D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78000" y="1778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0" y="2667000"/>
            <a:ext cx="1651000" cy="635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0" y="2667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Caixa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303000" y="2413000"/>
            <a:ext cx="0" cy="254000"/>
          </a:xfrm>
          <a:prstGeom prst="straightConnector1">
            <a:avLst/>
          </a:prstGeom>
          <a:noFill/>
          <a:ln w="12700">
            <a:solidFill>
              <a:srgbClr val="5A7D9A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2255500" y="2413000"/>
            <a:ext cx="0" cy="254000"/>
          </a:xfrm>
          <a:prstGeom prst="straightConnector1">
            <a:avLst/>
          </a:prstGeom>
          <a:noFill/>
          <a:ln w="12700">
            <a:solidFill>
              <a:srgbClr val="5A7D9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 flipH="1">
            <a:off x="13208000" y="2413000"/>
            <a:ext cx="0" cy="254000"/>
          </a:xfrm>
          <a:prstGeom prst="straightConnector1">
            <a:avLst/>
          </a:prstGeom>
          <a:noFill/>
          <a:ln w="12700">
            <a:solidFill>
              <a:srgbClr val="5A7D9A"/>
            </a:solidFill>
            <a:prstDash val="solid"/>
            <a:headEnd type="arrow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62000" y="3429000"/>
            <a:ext cx="14732000" cy="469900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3429000"/>
            <a:ext cx="50800" cy="46990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3556000"/>
            <a:ext cx="14224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Configuração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regras = [nova RegraCupom10(), nova RegraCupom20(), nova RegraBlackFriday()]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frete = nova CalculadoraFrete()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caixa = nova Caixa(regras, frete)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Comprando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carrinho = novo Carrinho()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carrinho.adicionar(novo Item("Notebook", 2500.00))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carrinho.adicionar(novo Item("Mouse", 120.00))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carrinho.adicionar(novo Item("Teclado", 180.00))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= caixa.fecharCompra(carrinho, "CUPOM10")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subtotal=2800 | desconto=280 (10%) | frete=0 | total=2520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204200"/>
            <a:ext cx="14732000" cy="6096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9500" y="828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587500" y="8255000"/>
            <a:ext cx="13589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Resultado: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Para adicionar novo cupom, basta criar uma nova classe e adicioná-la à lista.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Não modifica Caixa, Carrinho, Frete.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192000" y="88392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Erros Comuns de Iniciantes em OO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6858000"/>
        </p:xfrm>
        <a:graphic>
          <a:graphicData uri="http://schemas.openxmlformats.org/drawingml/2006/table">
            <a:tbl>
              <a:tblPr/>
              <a:tblGrid>
                <a:gridCol w="3241040"/>
                <a:gridCol w="5598160"/>
                <a:gridCol w="5892800"/>
              </a:tblGrid>
              <a:tr h="54711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Erro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Sintoma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Solução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</a:tr>
              <a:tr h="89064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Confundir classe com objeto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"Criei a classe Usuario, agora vou alterar a classe"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Lembre: classe é molde. Você trabalha com objetos (instâncias)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64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Tudo em uma classe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Uma classe com 500+ linhas fazendo de tudo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Divida por responsabilidade. Cada classe com um papel claro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9064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Herança excessiva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Herança onde composição seria mais simples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Pergunte: "X é realmente UM TIPO de Y?" Se não, use composição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64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Métodos gigantes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Método com 100+ linhas e vários "e também..."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 um método faz mais de uma coisa, divida em métodos menores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9064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Getters/Setters automáticos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Todos os atributos têm get/set sem validação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Exponha apenas o necessário. Setters devem validar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64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 sem estado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 com só métodos estáticos = funções disfarçadas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 não há estado, questione se precisa ser classe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96699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Inveja de Atributos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 A usa só atributos de B para calcular algo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lógica deve ir para quem tem os dados (classe B)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4732000" cy="38100"/>
          </a:xfrm>
          <a:prstGeom prst="rect">
            <a:avLst/>
          </a:prstGeom>
          <a:solidFill>
            <a:srgbClr val="1B4D7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 4 Pilares do OO — Resumo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3302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39522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Pilar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 que é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 que serve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</a:tr>
              <a:tr h="72669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Encapsulamento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Proteger dados internos; acesso via métodos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Centraliza regras, evita bugs por atalhos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669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Abstração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Expor o essencial, esconder detalhes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Simplifica o uso; quem usa não precisa saber como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2669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Herança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Subclasse especializa superclasse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Reutilização de código; especialização de comportamento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669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Polimorfismo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Mesmo contrato, comportamentos diferentes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Elimina if/else; extensão sem modificação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95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5A7D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Glossário Rápido</a:t>
            </a:r>
            <a:endParaRPr lang="en-US" sz="22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24500"/>
          <a:ext cx="14732000" cy="2794000"/>
        </p:xfrm>
        <a:graphic>
          <a:graphicData uri="http://schemas.openxmlformats.org/drawingml/2006/table">
            <a:tbl>
              <a:tblPr/>
              <a:tblGrid>
                <a:gridCol w="2651760"/>
                <a:gridCol w="5892800"/>
                <a:gridCol w="6187440"/>
              </a:tblGrid>
              <a:tr h="33322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Termo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Definição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Exemplo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2"/>
                    </a:solidFill>
                  </a:tcPr>
                </a:tc>
              </a:tr>
              <a:tr h="6151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Molde que define atributos e métodos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 ContaBancaria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51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Objeto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Coisa concreta criada a partir da classe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conta1 = nova ContaBancaria(...)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151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Interface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Contrato do que deve existir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Interface RegraDesconto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51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SRP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Uma razão para mudar por classe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Cada classe faz uma coisa bem feita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2192000" y="8763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7D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Faculdade GranTietê | OO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175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JORNADA DO OO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13000" y="4318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Aprender OO não é memorizar conceitos — é mudar a forma de pensar.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"o que o programa faz passo a passo?" para "quem é responsável por isso?"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5715000"/>
            <a:ext cx="254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609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PRATIQUE COM OS EXERCÍCIOS DA APOSTILA!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Prof. Me. José Antonio Gallo Junior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8000" y="7302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A7D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Faculdade GranTietê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 Orientado a Objetos</dc:title>
  <dc:subject>Paradigma Orientado a Objetos</dc:subject>
  <dc:creator>Kimi</dc:creator>
  <cp:lastModifiedBy>Kimi</cp:lastModifiedBy>
  <cp:revision>1</cp:revision>
  <dcterms:created xsi:type="dcterms:W3CDTF">2026-04-24T20:09:29Z</dcterms:created>
  <dcterms:modified xsi:type="dcterms:W3CDTF">2026-04-24T20:09:29Z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{"Label":"Paradigma Orientado a Objetos","ContentProducer":"001191110108MACG2KBH8F10000","ProduceID":"19dc110f-d8e2-81e1-8000-0000afab12da","ReservedCode1":"","ContentPropagator":"001191110108MACG2KBH8F20000","PropagateID":"19dc110f-d8e2-81e1-8000-0000afab12da","ReservedCode2":""}</vt:lpwstr>
  </property>
</Properties>
</file>